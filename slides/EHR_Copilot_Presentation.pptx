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be presenting EHR Copilot — a multi-agent RAG pipeline designed to provide faithful clinical question answering over electronic health records. This work addresses the critical challenge of LLM hallucination in clinical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straightforward: when you ask an LLM a patient-specific clinical question, it hallucinates. This isn't a minor inconvenience — a wrong medication or misquoted lab value can directly harm a patient. We identified three specific failure modes: hallucination of clinical claims, temporal failures with wrong dates and sequences, and numeric errors with misquoted lab values. The root cause is that one-shot LLMs receive the full patient record but have no mechanism to filter, verify, or abstain.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architecture. Instead of throwing the entire patient record at one model, we built a pipeline of 6 specialized agents. A query comes in, gets routed, goes through hybrid retrieval to pull relevant evidence chunks, then a reasoning agent generates a chain-of-thought answer, validators check temporal and numeric accuracy, and finally a critic agent either approves, sends back for revision, or abstains. The key design principle is that each agent does one thing well, and the critic defaults to abstain on uncertainty — it's a fail-safe design. We use MiniMax M2.5 as the backbone, which is dramatically cheaper than frontier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retrieval engine combines two complementary approaches. Dense retrieval uses PubMedBERT embeddings with FAISS for semantic similarity — so it understands that 'hypertension' and 'high blood pressure' are the same concept. Sparse retrieval uses BM25 for exact term matching, which is critical for medication names, lab codes, and ICD codes where you need exact matches. We merge both rankings using Reciprocal Rank Fusion with k=20, selecting the top 15 chunks. The key insight is that the reasoning agent now sees 15 focused evidence chunks instead of 10K tokens of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we used the MIMIC-IV Clinical Database Demo in FHIR format — 10 patients with 8 queries each, giving us 80 total evaluations across factual, medication, temporal, summary, and reasoning query types. We compared against 5 baseline models in one-shot mode with the full patient record in the prompt. A key innovation is our zero-cost ground truth: we extract reference entities directly from FHIR structured data, eliminating human annotation costs and LLM-as-judge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main results. The proposed solution achieves an Entity F1 of 0.639, which is a 20% improvement over the best baseline Sonnet 4.5 at 0.531. Our precision of 85% is 7% better than the best baseline. We achieve 100% abstention accuracy. Note that for hallucination, we're not the best — GLM 4.6 has 6.2% — but GLM achieves that by barely answering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down results by query type reveals where our system really shines. Medication queries show the most dramatic improvement: 0.770 vs GPT-5's 0.007 — that's over 100x better. We also lead in factual and summary queries. The only category where a baseline edges us out is temporal, where Sonnet 4.5 scores 0.759 to our 0.721. This is an area for future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Medication is our biggest win because it perfectly illustrates the failure mode of one-shot approaches. When GPT-5 sees a 10K token patient record with medications marked as [completed], it over-reasons and concludes there's insufficient data — resulting in a 41% abstention rate and an F1 of just 0.007. Our hybrid retrieval pulls the exact MedicationRequest chunks, giving the reasoning agent focused evidence. The key takeaway: more capable does not mean more useful. Bigger models over-reason and refuse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scatter plot shows the precision-recall tradeoff across all systems. Our solution sits in the top-right corner — best precision AND best recall. The key insight comes from GLM 4.6: it has the lowest hallucination rate at 6.2%, but its recall is only 0.259 — it essentially says almost nothing. Low hallucination is meaningless if the model doesn't answer the question. Our system balances both: 85% precision with 55.5%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is slower — 104 seconds average due to 5-6 serial LLM calls, compared to 5-18 seconds for one-shot baselines. However, it's actually cheaper: $0.01-$0.02 per query using MiniMax M2.5 versus $0.05-$0.10 for one-shot Sonnet 4.5. So we're cheaper AND more accurate — just slower. This is acceptable for use cases like chart review, care planning, and clinical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Entity F1 of 0.639, 20% better than the best baseline. 85% precision. 100% abstention accuracy. Medication F1 of 0.770, over 100x better than GPT-5. All at just $0.01 per query. The core insight: specialized agents working together beat one powerful model doing everything.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640080" y="1371600"/>
            <a:ext cx="548640" cy="548640"/>
          </a:xfrm>
          <a:prstGeom prst="rect">
            <a:avLst/>
          </a:prstGeom>
        </p:spPr>
      </p:pic>
      <p:sp>
        <p:nvSpPr>
          <p:cNvPr id="4" name="Text 1"/>
          <p:cNvSpPr/>
          <p:nvPr/>
        </p:nvSpPr>
        <p:spPr>
          <a:xfrm>
            <a:off x="640080" y="2011680"/>
            <a:ext cx="7863840" cy="73152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EHR Copilot</a:t>
            </a:r>
            <a:endParaRPr lang="en-US" sz="4400" dirty="0"/>
          </a:p>
        </p:txBody>
      </p:sp>
      <p:sp>
        <p:nvSpPr>
          <p:cNvPr id="5" name="Text 2"/>
          <p:cNvSpPr/>
          <p:nvPr/>
        </p:nvSpPr>
        <p:spPr>
          <a:xfrm>
            <a:off x="640080" y="2788920"/>
            <a:ext cx="7863840" cy="777240"/>
          </a:xfrm>
          <a:prstGeom prst="rect">
            <a:avLst/>
          </a:prstGeom>
          <a:noFill/>
          <a:ln/>
        </p:spPr>
        <p:txBody>
          <a:bodyPr wrap="square" lIns="0" tIns="0" rIns="0" bIns="0" rtlCol="0" anchor="ctr"/>
          <a:lstStyle/>
          <a:p>
            <a:pPr indent="0" marL="0">
              <a:lnSpc>
                <a:spcPct val="125000"/>
              </a:lnSpc>
              <a:buNone/>
            </a:pPr>
            <a:r>
              <a:rPr lang="en-US" sz="1800" dirty="0">
                <a:solidFill>
                  <a:srgbClr val="E2E8F0"/>
                </a:solidFill>
                <a:latin typeface="Calibri" pitchFamily="34" charset="0"/>
                <a:ea typeface="Calibri" pitchFamily="34" charset="-122"/>
                <a:cs typeface="Calibri" pitchFamily="34" charset="-120"/>
              </a:rPr>
              <a:t>Multi-Agent RAG Pipeline for Faithful Clinical</a:t>
            </a:r>
            <a:endParaRPr lang="en-US" sz="1800" dirty="0"/>
          </a:p>
          <a:p>
            <a:pPr indent="0" marL="0">
              <a:lnSpc>
                <a:spcPct val="125000"/>
              </a:lnSpc>
              <a:buNone/>
            </a:pPr>
            <a:r>
              <a:rPr lang="en-US" sz="1800" dirty="0">
                <a:solidFill>
                  <a:srgbClr val="E2E8F0"/>
                </a:solidFill>
                <a:latin typeface="Calibri" pitchFamily="34" charset="0"/>
                <a:ea typeface="Calibri" pitchFamily="34" charset="-122"/>
                <a:cs typeface="Calibri" pitchFamily="34" charset="-120"/>
              </a:rPr>
              <a:t>Question Answering over Electronic Health Records</a:t>
            </a:r>
            <a:endParaRPr lang="en-US" sz="1800" dirty="0"/>
          </a:p>
        </p:txBody>
      </p:sp>
      <p:sp>
        <p:nvSpPr>
          <p:cNvPr id="6" name="Shape 3"/>
          <p:cNvSpPr/>
          <p:nvPr/>
        </p:nvSpPr>
        <p:spPr>
          <a:xfrm>
            <a:off x="640080" y="3749040"/>
            <a:ext cx="2286000" cy="27432"/>
          </a:xfrm>
          <a:prstGeom prst="rect">
            <a:avLst/>
          </a:prstGeom>
          <a:solidFill>
            <a:srgbClr val="3B82F6"/>
          </a:solidFill>
          <a:ln/>
        </p:spPr>
      </p:sp>
      <p:sp>
        <p:nvSpPr>
          <p:cNvPr id="7" name="Shape 4"/>
          <p:cNvSpPr/>
          <p:nvPr/>
        </p:nvSpPr>
        <p:spPr>
          <a:xfrm>
            <a:off x="0" y="4709160"/>
            <a:ext cx="9144000" cy="434340"/>
          </a:xfrm>
          <a:prstGeom prst="rect">
            <a:avLst/>
          </a:prstGeom>
          <a:solidFill>
            <a:srgbClr val="0A112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Problem Statement</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11</a:t>
            </a:r>
            <a:endParaRPr lang="en-US" sz="900" dirty="0"/>
          </a:p>
        </p:txBody>
      </p:sp>
      <p:sp>
        <p:nvSpPr>
          <p:cNvPr id="6" name="Text 4"/>
          <p:cNvSpPr/>
          <p:nvPr/>
        </p:nvSpPr>
        <p:spPr>
          <a:xfrm>
            <a:off x="548640" y="1005840"/>
            <a:ext cx="8046720" cy="50292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LLMs hallucinate when answering patient-specific clinical questions — one wrong medication or lab value can harm a patient.</a:t>
            </a:r>
            <a:endParaRPr lang="en-US" sz="1400" dirty="0"/>
          </a:p>
        </p:txBody>
      </p:sp>
      <p:sp>
        <p:nvSpPr>
          <p:cNvPr id="7" name="Shape 5"/>
          <p:cNvSpPr/>
          <p:nvPr/>
        </p:nvSpPr>
        <p:spPr>
          <a:xfrm>
            <a:off x="548640" y="1691640"/>
            <a:ext cx="2560320" cy="150876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8" name="Image 0" descr="preencoded.png">    </p:cNvPr>
          <p:cNvPicPr>
            <a:picLocks noChangeAspect="1"/>
          </p:cNvPicPr>
          <p:nvPr/>
        </p:nvPicPr>
        <p:blipFill>
          <a:blip r:embed="rId1"/>
          <a:stretch>
            <a:fillRect/>
          </a:stretch>
        </p:blipFill>
        <p:spPr>
          <a:xfrm>
            <a:off x="731520" y="1828800"/>
            <a:ext cx="347472" cy="347472"/>
          </a:xfrm>
          <a:prstGeom prst="rect">
            <a:avLst/>
          </a:prstGeom>
        </p:spPr>
      </p:pic>
      <p:sp>
        <p:nvSpPr>
          <p:cNvPr id="9" name="Text 6"/>
          <p:cNvSpPr/>
          <p:nvPr/>
        </p:nvSpPr>
        <p:spPr>
          <a:xfrm>
            <a:off x="1188720" y="1828800"/>
            <a:ext cx="1737360" cy="347472"/>
          </a:xfrm>
          <a:prstGeom prst="rect">
            <a:avLst/>
          </a:prstGeom>
          <a:noFill/>
          <a:ln/>
        </p:spPr>
        <p:txBody>
          <a:bodyPr wrap="square" lIns="0" tIns="0" rIns="0" bIns="0" rtlCol="0" anchor="ctr"/>
          <a:lstStyle/>
          <a:p>
            <a:pPr indent="0" marL="0">
              <a:buNone/>
            </a:pPr>
            <a:r>
              <a:rPr lang="en-US" sz="1400" b="1" dirty="0">
                <a:solidFill>
                  <a:srgbClr val="0F1B3D"/>
                </a:solidFill>
                <a:latin typeface="Georgia" pitchFamily="34" charset="0"/>
                <a:ea typeface="Georgia" pitchFamily="34" charset="-122"/>
                <a:cs typeface="Georgia" pitchFamily="34" charset="-120"/>
              </a:rPr>
              <a:t>Hallucination</a:t>
            </a:r>
            <a:endParaRPr lang="en-US" sz="1400" dirty="0"/>
          </a:p>
        </p:txBody>
      </p:sp>
      <p:sp>
        <p:nvSpPr>
          <p:cNvPr id="10" name="Text 7"/>
          <p:cNvSpPr/>
          <p:nvPr/>
        </p:nvSpPr>
        <p:spPr>
          <a:xfrm>
            <a:off x="731520" y="2331720"/>
            <a:ext cx="219456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Confident but fabricated</a:t>
            </a: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clinical claims</a:t>
            </a:r>
            <a:endParaRPr lang="en-US" sz="1200" dirty="0"/>
          </a:p>
        </p:txBody>
      </p:sp>
      <p:sp>
        <p:nvSpPr>
          <p:cNvPr id="11" name="Shape 8"/>
          <p:cNvSpPr/>
          <p:nvPr/>
        </p:nvSpPr>
        <p:spPr>
          <a:xfrm>
            <a:off x="3383280" y="1691640"/>
            <a:ext cx="2560320" cy="150876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12" name="Image 1" descr="preencoded.png">    </p:cNvPr>
          <p:cNvPicPr>
            <a:picLocks noChangeAspect="1"/>
          </p:cNvPicPr>
          <p:nvPr/>
        </p:nvPicPr>
        <p:blipFill>
          <a:blip r:embed="rId2"/>
          <a:stretch>
            <a:fillRect/>
          </a:stretch>
        </p:blipFill>
        <p:spPr>
          <a:xfrm>
            <a:off x="3566160" y="1828800"/>
            <a:ext cx="347472" cy="347472"/>
          </a:xfrm>
          <a:prstGeom prst="rect">
            <a:avLst/>
          </a:prstGeom>
        </p:spPr>
      </p:pic>
      <p:sp>
        <p:nvSpPr>
          <p:cNvPr id="13" name="Text 9"/>
          <p:cNvSpPr/>
          <p:nvPr/>
        </p:nvSpPr>
        <p:spPr>
          <a:xfrm>
            <a:off x="4023360" y="1828800"/>
            <a:ext cx="1737360" cy="347472"/>
          </a:xfrm>
          <a:prstGeom prst="rect">
            <a:avLst/>
          </a:prstGeom>
          <a:noFill/>
          <a:ln/>
        </p:spPr>
        <p:txBody>
          <a:bodyPr wrap="square" lIns="0" tIns="0" rIns="0" bIns="0" rtlCol="0" anchor="ctr"/>
          <a:lstStyle/>
          <a:p>
            <a:pPr indent="0" marL="0">
              <a:buNone/>
            </a:pPr>
            <a:r>
              <a:rPr lang="en-US" sz="1400" b="1" dirty="0">
                <a:solidFill>
                  <a:srgbClr val="0F1B3D"/>
                </a:solidFill>
                <a:latin typeface="Georgia" pitchFamily="34" charset="0"/>
                <a:ea typeface="Georgia" pitchFamily="34" charset="-122"/>
                <a:cs typeface="Georgia" pitchFamily="34" charset="-120"/>
              </a:rPr>
              <a:t>Temporal Failures</a:t>
            </a:r>
            <a:endParaRPr lang="en-US" sz="1400" dirty="0"/>
          </a:p>
        </p:txBody>
      </p:sp>
      <p:sp>
        <p:nvSpPr>
          <p:cNvPr id="14" name="Text 10"/>
          <p:cNvSpPr/>
          <p:nvPr/>
        </p:nvSpPr>
        <p:spPr>
          <a:xfrm>
            <a:off x="3566160" y="2331720"/>
            <a:ext cx="219456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Wrong dates and</a:t>
            </a: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event sequences</a:t>
            </a:r>
            <a:endParaRPr lang="en-US" sz="1200" dirty="0"/>
          </a:p>
        </p:txBody>
      </p:sp>
      <p:sp>
        <p:nvSpPr>
          <p:cNvPr id="15" name="Shape 11"/>
          <p:cNvSpPr/>
          <p:nvPr/>
        </p:nvSpPr>
        <p:spPr>
          <a:xfrm>
            <a:off x="6217920" y="1691640"/>
            <a:ext cx="2560320" cy="150876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16" name="Image 2" descr="preencoded.png">    </p:cNvPr>
          <p:cNvPicPr>
            <a:picLocks noChangeAspect="1"/>
          </p:cNvPicPr>
          <p:nvPr/>
        </p:nvPicPr>
        <p:blipFill>
          <a:blip r:embed="rId3"/>
          <a:stretch>
            <a:fillRect/>
          </a:stretch>
        </p:blipFill>
        <p:spPr>
          <a:xfrm>
            <a:off x="6400800" y="1828800"/>
            <a:ext cx="347472" cy="347472"/>
          </a:xfrm>
          <a:prstGeom prst="rect">
            <a:avLst/>
          </a:prstGeom>
        </p:spPr>
      </p:pic>
      <p:sp>
        <p:nvSpPr>
          <p:cNvPr id="17" name="Text 12"/>
          <p:cNvSpPr/>
          <p:nvPr/>
        </p:nvSpPr>
        <p:spPr>
          <a:xfrm>
            <a:off x="6858000" y="1828800"/>
            <a:ext cx="1737360" cy="347472"/>
          </a:xfrm>
          <a:prstGeom prst="rect">
            <a:avLst/>
          </a:prstGeom>
          <a:noFill/>
          <a:ln/>
        </p:spPr>
        <p:txBody>
          <a:bodyPr wrap="square" lIns="0" tIns="0" rIns="0" bIns="0" rtlCol="0" anchor="ctr"/>
          <a:lstStyle/>
          <a:p>
            <a:pPr indent="0" marL="0">
              <a:buNone/>
            </a:pPr>
            <a:r>
              <a:rPr lang="en-US" sz="1400" b="1" dirty="0">
                <a:solidFill>
                  <a:srgbClr val="0F1B3D"/>
                </a:solidFill>
                <a:latin typeface="Georgia" pitchFamily="34" charset="0"/>
                <a:ea typeface="Georgia" pitchFamily="34" charset="-122"/>
                <a:cs typeface="Georgia" pitchFamily="34" charset="-120"/>
              </a:rPr>
              <a:t>Numeric Errors</a:t>
            </a:r>
            <a:endParaRPr lang="en-US" sz="1400" dirty="0"/>
          </a:p>
        </p:txBody>
      </p:sp>
      <p:sp>
        <p:nvSpPr>
          <p:cNvPr id="18" name="Text 13"/>
          <p:cNvSpPr/>
          <p:nvPr/>
        </p:nvSpPr>
        <p:spPr>
          <a:xfrm>
            <a:off x="6400800" y="2331720"/>
            <a:ext cx="2194560" cy="7315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Misquoted lab values</a:t>
            </a: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and dosages</a:t>
            </a:r>
            <a:endParaRPr lang="en-US" sz="1200" dirty="0"/>
          </a:p>
        </p:txBody>
      </p:sp>
      <p:sp>
        <p:nvSpPr>
          <p:cNvPr id="19" name="Shape 14"/>
          <p:cNvSpPr/>
          <p:nvPr/>
        </p:nvSpPr>
        <p:spPr>
          <a:xfrm>
            <a:off x="548640" y="3429000"/>
            <a:ext cx="8046720" cy="105156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20" name="Shape 15"/>
          <p:cNvSpPr/>
          <p:nvPr/>
        </p:nvSpPr>
        <p:spPr>
          <a:xfrm>
            <a:off x="548640" y="3429000"/>
            <a:ext cx="64008" cy="1051560"/>
          </a:xfrm>
          <a:prstGeom prst="rect">
            <a:avLst/>
          </a:prstGeom>
          <a:solidFill>
            <a:srgbClr val="EF4444"/>
          </a:solidFill>
          <a:ln/>
        </p:spPr>
      </p:sp>
      <p:sp>
        <p:nvSpPr>
          <p:cNvPr id="21" name="Text 16"/>
          <p:cNvSpPr/>
          <p:nvPr/>
        </p:nvSpPr>
        <p:spPr>
          <a:xfrm>
            <a:off x="777240" y="3493008"/>
            <a:ext cx="1828800" cy="320040"/>
          </a:xfrm>
          <a:prstGeom prst="rect">
            <a:avLst/>
          </a:prstGeom>
          <a:noFill/>
          <a:ln/>
        </p:spPr>
        <p:txBody>
          <a:bodyPr wrap="square" lIns="0" tIns="0" rIns="0" bIns="0" rtlCol="0" anchor="ctr"/>
          <a:lstStyle/>
          <a:p>
            <a:pPr indent="0" marL="0">
              <a:buNone/>
            </a:pPr>
            <a:r>
              <a:rPr lang="en-US" sz="1300" b="1" dirty="0">
                <a:solidFill>
                  <a:srgbClr val="0F1B3D"/>
                </a:solidFill>
                <a:latin typeface="Georgia" pitchFamily="34" charset="0"/>
                <a:ea typeface="Georgia" pitchFamily="34" charset="-122"/>
                <a:cs typeface="Georgia" pitchFamily="34" charset="-120"/>
              </a:rPr>
              <a:t>Root Cause</a:t>
            </a:r>
            <a:endParaRPr lang="en-US" sz="1300" dirty="0"/>
          </a:p>
        </p:txBody>
      </p:sp>
      <p:sp>
        <p:nvSpPr>
          <p:cNvPr id="22" name="Text 17"/>
          <p:cNvSpPr/>
          <p:nvPr/>
        </p:nvSpPr>
        <p:spPr>
          <a:xfrm>
            <a:off x="777240" y="3794760"/>
            <a:ext cx="7589520" cy="5943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One-shot LLMs see the full patient record (~10K tokens) but can't filter signal from noise,</a:t>
            </a: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have no verification step, and can't say "I don't know."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Our Solution — Architecture</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11</a:t>
            </a:r>
            <a:endParaRPr lang="en-US" sz="900" dirty="0"/>
          </a:p>
        </p:txBody>
      </p:sp>
      <p:sp>
        <p:nvSpPr>
          <p:cNvPr id="6" name="Shape 4"/>
          <p:cNvSpPr/>
          <p:nvPr/>
        </p:nvSpPr>
        <p:spPr>
          <a:xfrm>
            <a:off x="274320" y="1143000"/>
            <a:ext cx="1005840" cy="822960"/>
          </a:xfrm>
          <a:prstGeom prst="rect">
            <a:avLst/>
          </a:prstGeom>
          <a:solidFill>
            <a:srgbClr val="94A3B8"/>
          </a:solidFill>
          <a:ln/>
          <a:effectLst>
            <a:outerShdw sx="100000" sy="100000" kx="0" ky="0" algn="bl" rotWithShape="0" blurRad="50800" dist="12700" dir="8100000">
              <a:srgbClr val="000000">
                <a:alpha val="10000"/>
              </a:srgbClr>
            </a:outerShdw>
          </a:effectLst>
        </p:spPr>
      </p:sp>
      <p:sp>
        <p:nvSpPr>
          <p:cNvPr id="7" name="Text 5"/>
          <p:cNvSpPr/>
          <p:nvPr/>
        </p:nvSpPr>
        <p:spPr>
          <a:xfrm>
            <a:off x="274320" y="1143000"/>
            <a:ext cx="1005840" cy="8229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Query</a:t>
            </a:r>
            <a:endParaRPr lang="en-US" sz="1000" dirty="0"/>
          </a:p>
        </p:txBody>
      </p:sp>
      <p:sp>
        <p:nvSpPr>
          <p:cNvPr id="8" name="Text 6"/>
          <p:cNvSpPr/>
          <p:nvPr/>
        </p:nvSpPr>
        <p:spPr>
          <a:xfrm>
            <a:off x="1298448" y="1371600"/>
            <a:ext cx="164592" cy="36576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9" name="Shape 7"/>
          <p:cNvSpPr/>
          <p:nvPr/>
        </p:nvSpPr>
        <p:spPr>
          <a:xfrm>
            <a:off x="1481328" y="1143000"/>
            <a:ext cx="1005840" cy="822960"/>
          </a:xfrm>
          <a:prstGeom prst="rect">
            <a:avLst/>
          </a:prstGeom>
          <a:solidFill>
            <a:srgbClr val="2D4A8C"/>
          </a:solidFill>
          <a:ln/>
          <a:effectLst>
            <a:outerShdw sx="100000" sy="100000" kx="0" ky="0" algn="bl" rotWithShape="0" blurRad="50800" dist="12700" dir="8100000">
              <a:srgbClr val="000000">
                <a:alpha val="10000"/>
              </a:srgbClr>
            </a:outerShdw>
          </a:effectLst>
        </p:spPr>
      </p:sp>
      <p:pic>
        <p:nvPicPr>
          <p:cNvPr id="10" name="Image 0" descr="preencoded.png">    </p:cNvPr>
          <p:cNvPicPr>
            <a:picLocks noChangeAspect="1"/>
          </p:cNvPicPr>
          <p:nvPr/>
        </p:nvPicPr>
        <p:blipFill>
          <a:blip r:embed="rId1"/>
          <a:stretch>
            <a:fillRect/>
          </a:stretch>
        </p:blipFill>
        <p:spPr>
          <a:xfrm>
            <a:off x="1847088" y="1216152"/>
            <a:ext cx="274320" cy="274320"/>
          </a:xfrm>
          <a:prstGeom prst="rect">
            <a:avLst/>
          </a:prstGeom>
        </p:spPr>
      </p:pic>
      <p:sp>
        <p:nvSpPr>
          <p:cNvPr id="11" name="Text 8"/>
          <p:cNvSpPr/>
          <p:nvPr/>
        </p:nvSpPr>
        <p:spPr>
          <a:xfrm>
            <a:off x="1481328" y="1508760"/>
            <a:ext cx="100584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Router</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12" name="Text 9"/>
          <p:cNvSpPr/>
          <p:nvPr/>
        </p:nvSpPr>
        <p:spPr>
          <a:xfrm>
            <a:off x="2505456" y="1371600"/>
            <a:ext cx="164592" cy="36576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13" name="Shape 10"/>
          <p:cNvSpPr/>
          <p:nvPr/>
        </p:nvSpPr>
        <p:spPr>
          <a:xfrm>
            <a:off x="2688336" y="1143000"/>
            <a:ext cx="1005840" cy="822960"/>
          </a:xfrm>
          <a:prstGeom prst="rect">
            <a:avLst/>
          </a:prstGeom>
          <a:solidFill>
            <a:srgbClr val="2D4A8C"/>
          </a:solidFill>
          <a:ln/>
          <a:effectLst>
            <a:outerShdw sx="100000" sy="100000" kx="0" ky="0" algn="bl" rotWithShape="0" blurRad="50800" dist="12700" dir="8100000">
              <a:srgbClr val="000000">
                <a:alpha val="10000"/>
              </a:srgbClr>
            </a:outerShdw>
          </a:effectLst>
        </p:spPr>
      </p:sp>
      <p:pic>
        <p:nvPicPr>
          <p:cNvPr id="14" name="Image 1" descr="preencoded.png">    </p:cNvPr>
          <p:cNvPicPr>
            <a:picLocks noChangeAspect="1"/>
          </p:cNvPicPr>
          <p:nvPr/>
        </p:nvPicPr>
        <p:blipFill>
          <a:blip r:embed="rId2"/>
          <a:stretch>
            <a:fillRect/>
          </a:stretch>
        </p:blipFill>
        <p:spPr>
          <a:xfrm>
            <a:off x="3054096" y="1216152"/>
            <a:ext cx="274320" cy="274320"/>
          </a:xfrm>
          <a:prstGeom prst="rect">
            <a:avLst/>
          </a:prstGeom>
        </p:spPr>
      </p:pic>
      <p:sp>
        <p:nvSpPr>
          <p:cNvPr id="15" name="Text 11"/>
          <p:cNvSpPr/>
          <p:nvPr/>
        </p:nvSpPr>
        <p:spPr>
          <a:xfrm>
            <a:off x="2688336" y="1508760"/>
            <a:ext cx="100584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Hybrid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Retrieval</a:t>
            </a:r>
            <a:endParaRPr lang="en-US" sz="900" dirty="0"/>
          </a:p>
        </p:txBody>
      </p:sp>
      <p:sp>
        <p:nvSpPr>
          <p:cNvPr id="16" name="Text 12"/>
          <p:cNvSpPr/>
          <p:nvPr/>
        </p:nvSpPr>
        <p:spPr>
          <a:xfrm>
            <a:off x="3712464" y="1371600"/>
            <a:ext cx="164592" cy="36576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17" name="Shape 13"/>
          <p:cNvSpPr/>
          <p:nvPr/>
        </p:nvSpPr>
        <p:spPr>
          <a:xfrm>
            <a:off x="3895344" y="1143000"/>
            <a:ext cx="1005840" cy="822960"/>
          </a:xfrm>
          <a:prstGeom prst="rect">
            <a:avLst/>
          </a:prstGeom>
          <a:solidFill>
            <a:srgbClr val="2D4A8C"/>
          </a:solidFill>
          <a:ln/>
          <a:effectLst>
            <a:outerShdw sx="100000" sy="100000" kx="0" ky="0" algn="bl" rotWithShape="0" blurRad="50800" dist="12700" dir="8100000">
              <a:srgbClr val="000000">
                <a:alpha val="10000"/>
              </a:srgbClr>
            </a:outerShdw>
          </a:effectLst>
        </p:spPr>
      </p:sp>
      <p:pic>
        <p:nvPicPr>
          <p:cNvPr id="18" name="Image 2" descr="preencoded.png">    </p:cNvPr>
          <p:cNvPicPr>
            <a:picLocks noChangeAspect="1"/>
          </p:cNvPicPr>
          <p:nvPr/>
        </p:nvPicPr>
        <p:blipFill>
          <a:blip r:embed="rId3"/>
          <a:stretch>
            <a:fillRect/>
          </a:stretch>
        </p:blipFill>
        <p:spPr>
          <a:xfrm>
            <a:off x="4261104" y="1216152"/>
            <a:ext cx="274320" cy="274320"/>
          </a:xfrm>
          <a:prstGeom prst="rect">
            <a:avLst/>
          </a:prstGeom>
        </p:spPr>
      </p:pic>
      <p:sp>
        <p:nvSpPr>
          <p:cNvPr id="19" name="Text 14"/>
          <p:cNvSpPr/>
          <p:nvPr/>
        </p:nvSpPr>
        <p:spPr>
          <a:xfrm>
            <a:off x="3895344" y="1508760"/>
            <a:ext cx="100584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Reasoning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20" name="Text 15"/>
          <p:cNvSpPr/>
          <p:nvPr/>
        </p:nvSpPr>
        <p:spPr>
          <a:xfrm>
            <a:off x="4919472" y="1371600"/>
            <a:ext cx="164592" cy="36576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21" name="Shape 16"/>
          <p:cNvSpPr/>
          <p:nvPr/>
        </p:nvSpPr>
        <p:spPr>
          <a:xfrm>
            <a:off x="5102352" y="1143000"/>
            <a:ext cx="1005840" cy="822960"/>
          </a:xfrm>
          <a:prstGeom prst="rect">
            <a:avLst/>
          </a:prstGeom>
          <a:solidFill>
            <a:srgbClr val="2D4A8C"/>
          </a:solidFill>
          <a:ln/>
          <a:effectLst>
            <a:outerShdw sx="100000" sy="100000" kx="0" ky="0" algn="bl" rotWithShape="0" blurRad="50800" dist="12700" dir="8100000">
              <a:srgbClr val="000000">
                <a:alpha val="10000"/>
              </a:srgbClr>
            </a:outerShdw>
          </a:effectLst>
        </p:spPr>
      </p:sp>
      <p:pic>
        <p:nvPicPr>
          <p:cNvPr id="22" name="Image 3" descr="preencoded.png">    </p:cNvPr>
          <p:cNvPicPr>
            <a:picLocks noChangeAspect="1"/>
          </p:cNvPicPr>
          <p:nvPr/>
        </p:nvPicPr>
        <p:blipFill>
          <a:blip r:embed="rId4"/>
          <a:stretch>
            <a:fillRect/>
          </a:stretch>
        </p:blipFill>
        <p:spPr>
          <a:xfrm>
            <a:off x="5468112" y="1216152"/>
            <a:ext cx="274320" cy="274320"/>
          </a:xfrm>
          <a:prstGeom prst="rect">
            <a:avLst/>
          </a:prstGeom>
        </p:spPr>
      </p:pic>
      <p:sp>
        <p:nvSpPr>
          <p:cNvPr id="23" name="Text 17"/>
          <p:cNvSpPr/>
          <p:nvPr/>
        </p:nvSpPr>
        <p:spPr>
          <a:xfrm>
            <a:off x="5102352" y="1508760"/>
            <a:ext cx="100584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Validators</a:t>
            </a:r>
            <a:endParaRPr lang="en-US" sz="900" dirty="0"/>
          </a:p>
        </p:txBody>
      </p:sp>
      <p:sp>
        <p:nvSpPr>
          <p:cNvPr id="24" name="Text 18"/>
          <p:cNvSpPr/>
          <p:nvPr/>
        </p:nvSpPr>
        <p:spPr>
          <a:xfrm>
            <a:off x="6126480" y="1371600"/>
            <a:ext cx="164592" cy="36576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25" name="Shape 19"/>
          <p:cNvSpPr/>
          <p:nvPr/>
        </p:nvSpPr>
        <p:spPr>
          <a:xfrm>
            <a:off x="6309360" y="1143000"/>
            <a:ext cx="1005840" cy="822960"/>
          </a:xfrm>
          <a:prstGeom prst="rect">
            <a:avLst/>
          </a:prstGeom>
          <a:solidFill>
            <a:srgbClr val="2563EB"/>
          </a:solidFill>
          <a:ln/>
          <a:effectLst>
            <a:outerShdw sx="100000" sy="100000" kx="0" ky="0" algn="bl" rotWithShape="0" blurRad="50800" dist="12700" dir="8100000">
              <a:srgbClr val="000000">
                <a:alpha val="10000"/>
              </a:srgbClr>
            </a:outerShdw>
          </a:effectLst>
        </p:spPr>
      </p:sp>
      <p:pic>
        <p:nvPicPr>
          <p:cNvPr id="26" name="Image 4" descr="preencoded.png">    </p:cNvPr>
          <p:cNvPicPr>
            <a:picLocks noChangeAspect="1"/>
          </p:cNvPicPr>
          <p:nvPr/>
        </p:nvPicPr>
        <p:blipFill>
          <a:blip r:embed="rId5"/>
          <a:stretch>
            <a:fillRect/>
          </a:stretch>
        </p:blipFill>
        <p:spPr>
          <a:xfrm>
            <a:off x="6675120" y="1216152"/>
            <a:ext cx="274320" cy="274320"/>
          </a:xfrm>
          <a:prstGeom prst="rect">
            <a:avLst/>
          </a:prstGeom>
        </p:spPr>
      </p:pic>
      <p:sp>
        <p:nvSpPr>
          <p:cNvPr id="27" name="Text 20"/>
          <p:cNvSpPr/>
          <p:nvPr/>
        </p:nvSpPr>
        <p:spPr>
          <a:xfrm>
            <a:off x="6309360" y="1508760"/>
            <a:ext cx="100584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Critic</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28" name="Text 21"/>
          <p:cNvSpPr/>
          <p:nvPr/>
        </p:nvSpPr>
        <p:spPr>
          <a:xfrm>
            <a:off x="7333488" y="1371600"/>
            <a:ext cx="164592" cy="365760"/>
          </a:xfrm>
          <a:prstGeom prst="rect">
            <a:avLst/>
          </a:prstGeom>
          <a:noFill/>
          <a:ln/>
        </p:spPr>
        <p:txBody>
          <a:bodyPr wrap="square" lIns="0" tIns="0" rIns="0" bIns="0" rtlCol="0" anchor="ctr"/>
          <a:lstStyle/>
          <a:p>
            <a:pPr algn="ctr" indent="0" marL="0">
              <a:buNone/>
            </a:pPr>
            <a:r>
              <a:rPr lang="en-US" sz="1000" dirty="0">
                <a:solidFill>
                  <a:srgbClr val="94A3B8"/>
                </a:solidFill>
              </a:rPr>
              <a:t>▶</a:t>
            </a:r>
            <a:endParaRPr lang="en-US" sz="1000" dirty="0"/>
          </a:p>
        </p:txBody>
      </p:sp>
      <p:sp>
        <p:nvSpPr>
          <p:cNvPr id="29" name="Shape 22"/>
          <p:cNvSpPr/>
          <p:nvPr/>
        </p:nvSpPr>
        <p:spPr>
          <a:xfrm>
            <a:off x="7516368" y="1143000"/>
            <a:ext cx="1005840" cy="822960"/>
          </a:xfrm>
          <a:prstGeom prst="rect">
            <a:avLst/>
          </a:prstGeom>
          <a:solidFill>
            <a:srgbClr val="10B981"/>
          </a:solidFill>
          <a:ln/>
          <a:effectLst>
            <a:outerShdw sx="100000" sy="100000" kx="0" ky="0" algn="bl" rotWithShape="0" blurRad="50800" dist="12700" dir="8100000">
              <a:srgbClr val="000000">
                <a:alpha val="10000"/>
              </a:srgbClr>
            </a:outerShdw>
          </a:effectLst>
        </p:spPr>
      </p:sp>
      <p:sp>
        <p:nvSpPr>
          <p:cNvPr id="30" name="Text 23"/>
          <p:cNvSpPr/>
          <p:nvPr/>
        </p:nvSpPr>
        <p:spPr>
          <a:xfrm>
            <a:off x="7516368" y="1143000"/>
            <a:ext cx="1005840" cy="8229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Answer</a:t>
            </a:r>
            <a:endParaRPr lang="en-US" sz="1000" dirty="0"/>
          </a:p>
        </p:txBody>
      </p:sp>
      <p:sp>
        <p:nvSpPr>
          <p:cNvPr id="31" name="Shape 24"/>
          <p:cNvSpPr/>
          <p:nvPr/>
        </p:nvSpPr>
        <p:spPr>
          <a:xfrm>
            <a:off x="4078224" y="2148840"/>
            <a:ext cx="3054096" cy="0"/>
          </a:xfrm>
          <a:prstGeom prst="rect">
            <a:avLst/>
          </a:prstGeom>
          <a:noFill/>
          <a:ln w="19050">
            <a:solidFill>
              <a:srgbClr val="F59E0B"/>
            </a:solidFill>
            <a:prstDash val="dash"/>
          </a:ln>
        </p:spPr>
      </p:sp>
      <p:sp>
        <p:nvSpPr>
          <p:cNvPr id="32" name="Text 25"/>
          <p:cNvSpPr/>
          <p:nvPr/>
        </p:nvSpPr>
        <p:spPr>
          <a:xfrm>
            <a:off x="3895344" y="2148840"/>
            <a:ext cx="3419856" cy="320040"/>
          </a:xfrm>
          <a:prstGeom prst="rect">
            <a:avLst/>
          </a:prstGeom>
          <a:noFill/>
          <a:ln/>
        </p:spPr>
        <p:txBody>
          <a:bodyPr wrap="square" lIns="0" tIns="0" rIns="0" bIns="0" rtlCol="0" anchor="ctr"/>
          <a:lstStyle/>
          <a:p>
            <a:pPr algn="ctr" indent="0" marL="0">
              <a:buNone/>
            </a:pPr>
            <a:r>
              <a:rPr lang="en-US" sz="900" i="1" dirty="0">
                <a:solidFill>
                  <a:srgbClr val="F59E0B"/>
                </a:solidFill>
                <a:latin typeface="Calibri" pitchFamily="34" charset="0"/>
                <a:ea typeface="Calibri" pitchFamily="34" charset="-122"/>
                <a:cs typeface="Calibri" pitchFamily="34" charset="-120"/>
              </a:rPr>
              <a:t>↻ Retry loop: Critic sends back to Reasoning for revision</a:t>
            </a:r>
            <a:endParaRPr lang="en-US" sz="900" dirty="0"/>
          </a:p>
        </p:txBody>
      </p:sp>
      <p:sp>
        <p:nvSpPr>
          <p:cNvPr id="33" name="Shape 26"/>
          <p:cNvSpPr/>
          <p:nvPr/>
        </p:nvSpPr>
        <p:spPr>
          <a:xfrm>
            <a:off x="548640" y="2697480"/>
            <a:ext cx="2560320" cy="160020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34" name="Image 5" descr="preencoded.png">    </p:cNvPr>
          <p:cNvPicPr>
            <a:picLocks noChangeAspect="1"/>
          </p:cNvPicPr>
          <p:nvPr/>
        </p:nvPicPr>
        <p:blipFill>
          <a:blip r:embed="rId6"/>
          <a:stretch>
            <a:fillRect/>
          </a:stretch>
        </p:blipFill>
        <p:spPr>
          <a:xfrm>
            <a:off x="731520" y="2834640"/>
            <a:ext cx="320040" cy="320040"/>
          </a:xfrm>
          <a:prstGeom prst="rect">
            <a:avLst/>
          </a:prstGeom>
        </p:spPr>
      </p:pic>
      <p:sp>
        <p:nvSpPr>
          <p:cNvPr id="35" name="Text 27"/>
          <p:cNvSpPr/>
          <p:nvPr/>
        </p:nvSpPr>
        <p:spPr>
          <a:xfrm>
            <a:off x="1143000" y="2834640"/>
            <a:ext cx="1783080" cy="320040"/>
          </a:xfrm>
          <a:prstGeom prst="rect">
            <a:avLst/>
          </a:prstGeom>
          <a:noFill/>
          <a:ln/>
        </p:spPr>
        <p:txBody>
          <a:bodyPr wrap="square" lIns="0" tIns="0" rIns="0" bIns="0" rtlCol="0" anchor="ctr"/>
          <a:lstStyle/>
          <a:p>
            <a:pPr indent="0" marL="0">
              <a:buNone/>
            </a:pPr>
            <a:r>
              <a:rPr lang="en-US" sz="1200" b="1" dirty="0">
                <a:solidFill>
                  <a:srgbClr val="0F1B3D"/>
                </a:solidFill>
                <a:latin typeface="Georgia" pitchFamily="34" charset="0"/>
                <a:ea typeface="Georgia" pitchFamily="34" charset="-122"/>
                <a:cs typeface="Georgia" pitchFamily="34" charset="-120"/>
              </a:rPr>
              <a:t>Single Responsibility</a:t>
            </a:r>
            <a:endParaRPr lang="en-US" sz="1200" dirty="0"/>
          </a:p>
        </p:txBody>
      </p:sp>
      <p:sp>
        <p:nvSpPr>
          <p:cNvPr id="36" name="Text 28"/>
          <p:cNvSpPr/>
          <p:nvPr/>
        </p:nvSpPr>
        <p:spPr>
          <a:xfrm>
            <a:off x="731520" y="3246120"/>
            <a:ext cx="2194560" cy="9144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Each agent does ONE thing well — routing, retrieval, reasoning, validation, critique</a:t>
            </a:r>
            <a:endParaRPr lang="en-US" sz="1100" dirty="0"/>
          </a:p>
        </p:txBody>
      </p:sp>
      <p:sp>
        <p:nvSpPr>
          <p:cNvPr id="37" name="Shape 29"/>
          <p:cNvSpPr/>
          <p:nvPr/>
        </p:nvSpPr>
        <p:spPr>
          <a:xfrm>
            <a:off x="3383280" y="2697480"/>
            <a:ext cx="2560320" cy="160020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38" name="Image 6" descr="preencoded.png">    </p:cNvPr>
          <p:cNvPicPr>
            <a:picLocks noChangeAspect="1"/>
          </p:cNvPicPr>
          <p:nvPr/>
        </p:nvPicPr>
        <p:blipFill>
          <a:blip r:embed="rId7"/>
          <a:stretch>
            <a:fillRect/>
          </a:stretch>
        </p:blipFill>
        <p:spPr>
          <a:xfrm>
            <a:off x="3566160" y="2834640"/>
            <a:ext cx="320040" cy="320040"/>
          </a:xfrm>
          <a:prstGeom prst="rect">
            <a:avLst/>
          </a:prstGeom>
        </p:spPr>
      </p:pic>
      <p:sp>
        <p:nvSpPr>
          <p:cNvPr id="39" name="Text 30"/>
          <p:cNvSpPr/>
          <p:nvPr/>
        </p:nvSpPr>
        <p:spPr>
          <a:xfrm>
            <a:off x="3977640" y="2834640"/>
            <a:ext cx="1783080" cy="320040"/>
          </a:xfrm>
          <a:prstGeom prst="rect">
            <a:avLst/>
          </a:prstGeom>
          <a:noFill/>
          <a:ln/>
        </p:spPr>
        <p:txBody>
          <a:bodyPr wrap="square" lIns="0" tIns="0" rIns="0" bIns="0" rtlCol="0" anchor="ctr"/>
          <a:lstStyle/>
          <a:p>
            <a:pPr indent="0" marL="0">
              <a:buNone/>
            </a:pPr>
            <a:r>
              <a:rPr lang="en-US" sz="1200" b="1" dirty="0">
                <a:solidFill>
                  <a:srgbClr val="0F1B3D"/>
                </a:solidFill>
                <a:latin typeface="Georgia" pitchFamily="34" charset="0"/>
                <a:ea typeface="Georgia" pitchFamily="34" charset="-122"/>
                <a:cs typeface="Georgia" pitchFamily="34" charset="-120"/>
              </a:rPr>
              <a:t>Fail-Safe Abstention</a:t>
            </a:r>
            <a:endParaRPr lang="en-US" sz="1200" dirty="0"/>
          </a:p>
        </p:txBody>
      </p:sp>
      <p:sp>
        <p:nvSpPr>
          <p:cNvPr id="40" name="Text 31"/>
          <p:cNvSpPr/>
          <p:nvPr/>
        </p:nvSpPr>
        <p:spPr>
          <a:xfrm>
            <a:off x="3566160" y="3246120"/>
            <a:ext cx="2194560" cy="9144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Critic defaults to ABSTAIN on uncertainty — better to say nothing than hallucinate</a:t>
            </a:r>
            <a:endParaRPr lang="en-US" sz="1100" dirty="0"/>
          </a:p>
        </p:txBody>
      </p:sp>
      <p:sp>
        <p:nvSpPr>
          <p:cNvPr id="41" name="Shape 32"/>
          <p:cNvSpPr/>
          <p:nvPr/>
        </p:nvSpPr>
        <p:spPr>
          <a:xfrm>
            <a:off x="6217920" y="2697480"/>
            <a:ext cx="2560320" cy="160020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42" name="Image 7" descr="preencoded.png">    </p:cNvPr>
          <p:cNvPicPr>
            <a:picLocks noChangeAspect="1"/>
          </p:cNvPicPr>
          <p:nvPr/>
        </p:nvPicPr>
        <p:blipFill>
          <a:blip r:embed="rId8"/>
          <a:stretch>
            <a:fillRect/>
          </a:stretch>
        </p:blipFill>
        <p:spPr>
          <a:xfrm>
            <a:off x="6400800" y="2834640"/>
            <a:ext cx="320040" cy="320040"/>
          </a:xfrm>
          <a:prstGeom prst="rect">
            <a:avLst/>
          </a:prstGeom>
        </p:spPr>
      </p:pic>
      <p:sp>
        <p:nvSpPr>
          <p:cNvPr id="43" name="Text 33"/>
          <p:cNvSpPr/>
          <p:nvPr/>
        </p:nvSpPr>
        <p:spPr>
          <a:xfrm>
            <a:off x="6812280" y="2834640"/>
            <a:ext cx="1783080" cy="320040"/>
          </a:xfrm>
          <a:prstGeom prst="rect">
            <a:avLst/>
          </a:prstGeom>
          <a:noFill/>
          <a:ln/>
        </p:spPr>
        <p:txBody>
          <a:bodyPr wrap="square" lIns="0" tIns="0" rIns="0" bIns="0" rtlCol="0" anchor="ctr"/>
          <a:lstStyle/>
          <a:p>
            <a:pPr indent="0" marL="0">
              <a:buNone/>
            </a:pPr>
            <a:r>
              <a:rPr lang="en-US" sz="1200" b="1" dirty="0">
                <a:solidFill>
                  <a:srgbClr val="0F1B3D"/>
                </a:solidFill>
                <a:latin typeface="Georgia" pitchFamily="34" charset="0"/>
                <a:ea typeface="Georgia" pitchFamily="34" charset="-122"/>
                <a:cs typeface="Georgia" pitchFamily="34" charset="-120"/>
              </a:rPr>
              <a:t>Cost-Efficient Backbone</a:t>
            </a:r>
            <a:endParaRPr lang="en-US" sz="1200" dirty="0"/>
          </a:p>
        </p:txBody>
      </p:sp>
      <p:sp>
        <p:nvSpPr>
          <p:cNvPr id="44" name="Text 34"/>
          <p:cNvSpPr/>
          <p:nvPr/>
        </p:nvSpPr>
        <p:spPr>
          <a:xfrm>
            <a:off x="6400800" y="3246120"/>
            <a:ext cx="2194560" cy="9144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MiniMax M2.5 ($0.30/$1.20 per 1M tokens) — specialized agents beat expensive models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Hybrid Retrieval Engine</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11</a:t>
            </a:r>
            <a:endParaRPr lang="en-US" sz="900" dirty="0"/>
          </a:p>
        </p:txBody>
      </p:sp>
      <p:sp>
        <p:nvSpPr>
          <p:cNvPr id="6" name="Shape 4"/>
          <p:cNvSpPr/>
          <p:nvPr/>
        </p:nvSpPr>
        <p:spPr>
          <a:xfrm>
            <a:off x="548640" y="1051560"/>
            <a:ext cx="3840480" cy="1554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7" name="Shape 5"/>
          <p:cNvSpPr/>
          <p:nvPr/>
        </p:nvSpPr>
        <p:spPr>
          <a:xfrm>
            <a:off x="548640" y="1051560"/>
            <a:ext cx="3840480" cy="365760"/>
          </a:xfrm>
          <a:prstGeom prst="rect">
            <a:avLst/>
          </a:prstGeom>
          <a:solidFill>
            <a:srgbClr val="2D4A8C"/>
          </a:solidFill>
          <a:ln/>
        </p:spPr>
      </p:sp>
      <p:sp>
        <p:nvSpPr>
          <p:cNvPr id="8" name="Text 6"/>
          <p:cNvSpPr/>
          <p:nvPr/>
        </p:nvSpPr>
        <p:spPr>
          <a:xfrm>
            <a:off x="731520" y="1051560"/>
            <a:ext cx="3474720" cy="36576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Dense Retrieval</a:t>
            </a:r>
            <a:endParaRPr lang="en-US" sz="1300" dirty="0"/>
          </a:p>
        </p:txBody>
      </p:sp>
      <p:sp>
        <p:nvSpPr>
          <p:cNvPr id="9" name="Text 7"/>
          <p:cNvSpPr/>
          <p:nvPr/>
        </p:nvSpPr>
        <p:spPr>
          <a:xfrm>
            <a:off x="731520" y="1508760"/>
            <a:ext cx="3474720" cy="1005840"/>
          </a:xfrm>
          <a:prstGeom prst="rect">
            <a:avLst/>
          </a:prstGeom>
          <a:noFill/>
          <a:ln/>
        </p:spPr>
        <p:txBody>
          <a:bodyPr wrap="square" lIns="0" tIns="0" rIns="0" bIns="0" rtlCol="0" anchor="ctr"/>
          <a:lstStyle/>
          <a:p>
            <a:pPr indent="0" marL="0">
              <a:lnSpc>
                <a:spcPct val="140000"/>
              </a:lnSpc>
              <a:buNone/>
            </a:pPr>
            <a:r>
              <a:rPr lang="en-US" sz="1200" b="1" dirty="0">
                <a:solidFill>
                  <a:srgbClr val="475569"/>
                </a:solidFill>
                <a:latin typeface="Calibri" pitchFamily="34" charset="0"/>
                <a:ea typeface="Calibri" pitchFamily="34" charset="-122"/>
                <a:cs typeface="Calibri" pitchFamily="34" charset="-120"/>
              </a:rPr>
              <a:t>PubMedBERT embeddings (768d) + FAISS</a:t>
            </a:r>
            <a:endParaRPr lang="en-US" sz="1200" dirty="0"/>
          </a:p>
          <a:p>
            <a:pPr indent="0" marL="0">
              <a:lnSpc>
                <a:spcPct val="140000"/>
              </a:lnSpc>
              <a:buNone/>
            </a:pPr>
            <a:r>
              <a:rPr lang="en-US" sz="1200" dirty="0">
                <a:solidFill>
                  <a:srgbClr val="475569"/>
                </a:solidFill>
                <a:latin typeface="Calibri" pitchFamily="34" charset="0"/>
                <a:ea typeface="Calibri" pitchFamily="34" charset="-122"/>
                <a:cs typeface="Calibri" pitchFamily="34" charset="-120"/>
              </a:rPr>
              <a:t>Semantic similarity matching</a:t>
            </a:r>
            <a:endParaRPr lang="en-US" sz="1200" dirty="0"/>
          </a:p>
          <a:p>
            <a:pPr indent="0" marL="0">
              <a:lnSpc>
                <a:spcPct val="140000"/>
              </a:lnSpc>
              <a:buNone/>
            </a:pPr>
            <a:r>
              <a:rPr lang="en-US" sz="1200" i="1" dirty="0">
                <a:solidFill>
                  <a:srgbClr val="3B82F6"/>
                </a:solidFill>
                <a:latin typeface="Calibri" pitchFamily="34" charset="0"/>
                <a:ea typeface="Calibri" pitchFamily="34" charset="-122"/>
                <a:cs typeface="Calibri" pitchFamily="34" charset="-120"/>
              </a:rPr>
              <a:t>"hypertension" ≈ "high blood pressure"</a:t>
            </a:r>
            <a:endParaRPr lang="en-US" sz="1200" dirty="0"/>
          </a:p>
        </p:txBody>
      </p:sp>
      <p:sp>
        <p:nvSpPr>
          <p:cNvPr id="10" name="Shape 8"/>
          <p:cNvSpPr/>
          <p:nvPr/>
        </p:nvSpPr>
        <p:spPr>
          <a:xfrm>
            <a:off x="4754880" y="1051560"/>
            <a:ext cx="3840480" cy="1554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1" name="Shape 9"/>
          <p:cNvSpPr/>
          <p:nvPr/>
        </p:nvSpPr>
        <p:spPr>
          <a:xfrm>
            <a:off x="4754880" y="1051560"/>
            <a:ext cx="3840480" cy="365760"/>
          </a:xfrm>
          <a:prstGeom prst="rect">
            <a:avLst/>
          </a:prstGeom>
          <a:solidFill>
            <a:srgbClr val="2D4A8C"/>
          </a:solidFill>
          <a:ln/>
        </p:spPr>
      </p:sp>
      <p:sp>
        <p:nvSpPr>
          <p:cNvPr id="12" name="Text 10"/>
          <p:cNvSpPr/>
          <p:nvPr/>
        </p:nvSpPr>
        <p:spPr>
          <a:xfrm>
            <a:off x="4937760" y="1051560"/>
            <a:ext cx="3474720" cy="36576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Sparse Retrieval</a:t>
            </a:r>
            <a:endParaRPr lang="en-US" sz="1300" dirty="0"/>
          </a:p>
        </p:txBody>
      </p:sp>
      <p:sp>
        <p:nvSpPr>
          <p:cNvPr id="13" name="Text 11"/>
          <p:cNvSpPr/>
          <p:nvPr/>
        </p:nvSpPr>
        <p:spPr>
          <a:xfrm>
            <a:off x="4937760" y="1508760"/>
            <a:ext cx="3474720" cy="1005840"/>
          </a:xfrm>
          <a:prstGeom prst="rect">
            <a:avLst/>
          </a:prstGeom>
          <a:noFill/>
          <a:ln/>
        </p:spPr>
        <p:txBody>
          <a:bodyPr wrap="square" lIns="0" tIns="0" rIns="0" bIns="0" rtlCol="0" anchor="ctr"/>
          <a:lstStyle/>
          <a:p>
            <a:pPr indent="0" marL="0">
              <a:lnSpc>
                <a:spcPct val="140000"/>
              </a:lnSpc>
              <a:buNone/>
            </a:pPr>
            <a:r>
              <a:rPr lang="en-US" sz="1200" b="1" dirty="0">
                <a:solidFill>
                  <a:srgbClr val="475569"/>
                </a:solidFill>
                <a:latin typeface="Calibri" pitchFamily="34" charset="0"/>
                <a:ea typeface="Calibri" pitchFamily="34" charset="-122"/>
                <a:cs typeface="Calibri" pitchFamily="34" charset="-120"/>
              </a:rPr>
              <a:t>BM25 — exact term matching</a:t>
            </a:r>
            <a:endParaRPr lang="en-US" sz="1200" dirty="0"/>
          </a:p>
          <a:p>
            <a:pPr indent="0" marL="0">
              <a:lnSpc>
                <a:spcPct val="140000"/>
              </a:lnSpc>
              <a:buNone/>
            </a:pPr>
            <a:r>
              <a:rPr lang="en-US" sz="1200" dirty="0">
                <a:solidFill>
                  <a:srgbClr val="475569"/>
                </a:solidFill>
                <a:latin typeface="Calibri" pitchFamily="34" charset="0"/>
                <a:ea typeface="Calibri" pitchFamily="34" charset="-122"/>
                <a:cs typeface="Calibri" pitchFamily="34" charset="-120"/>
              </a:rPr>
              <a:t>Medication names, lab codes, ICD codes</a:t>
            </a:r>
            <a:endParaRPr lang="en-US" sz="1200" dirty="0"/>
          </a:p>
          <a:p>
            <a:pPr indent="0" marL="0">
              <a:lnSpc>
                <a:spcPct val="140000"/>
              </a:lnSpc>
              <a:buNone/>
            </a:pPr>
            <a:r>
              <a:rPr lang="en-US" sz="1200" i="1" dirty="0">
                <a:solidFill>
                  <a:srgbClr val="3B82F6"/>
                </a:solidFill>
                <a:latin typeface="Calibri" pitchFamily="34" charset="0"/>
                <a:ea typeface="Calibri" pitchFamily="34" charset="-122"/>
                <a:cs typeface="Calibri" pitchFamily="34" charset="-120"/>
              </a:rPr>
              <a:t>Precise keyword retrieval</a:t>
            </a:r>
            <a:endParaRPr lang="en-US" sz="1200" dirty="0"/>
          </a:p>
        </p:txBody>
      </p:sp>
      <p:sp>
        <p:nvSpPr>
          <p:cNvPr id="14" name="Shape 12"/>
          <p:cNvSpPr/>
          <p:nvPr/>
        </p:nvSpPr>
        <p:spPr>
          <a:xfrm>
            <a:off x="2286000" y="2880360"/>
            <a:ext cx="4572000" cy="502920"/>
          </a:xfrm>
          <a:prstGeom prst="rect">
            <a:avLst/>
          </a:prstGeom>
          <a:solidFill>
            <a:srgbClr val="2563EB"/>
          </a:solidFill>
          <a:ln/>
        </p:spPr>
      </p:sp>
      <p:sp>
        <p:nvSpPr>
          <p:cNvPr id="15" name="Text 13"/>
          <p:cNvSpPr/>
          <p:nvPr/>
        </p:nvSpPr>
        <p:spPr>
          <a:xfrm>
            <a:off x="2286000" y="2880360"/>
            <a:ext cx="45720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Reciprocal Rank Fusion (k=20)  →  Top 15 Chunks</a:t>
            </a:r>
            <a:endParaRPr lang="en-US" sz="1400" dirty="0"/>
          </a:p>
        </p:txBody>
      </p:sp>
      <p:sp>
        <p:nvSpPr>
          <p:cNvPr id="16" name="Text 14"/>
          <p:cNvSpPr/>
          <p:nvPr/>
        </p:nvSpPr>
        <p:spPr>
          <a:xfrm>
            <a:off x="2286000" y="2651760"/>
            <a:ext cx="457200" cy="274320"/>
          </a:xfrm>
          <a:prstGeom prst="rect">
            <a:avLst/>
          </a:prstGeom>
          <a:noFill/>
          <a:ln/>
        </p:spPr>
        <p:txBody>
          <a:bodyPr wrap="square" lIns="0" tIns="0" rIns="0" bIns="0" rtlCol="0" anchor="ctr"/>
          <a:lstStyle/>
          <a:p>
            <a:pPr algn="ctr" indent="0" marL="0">
              <a:buNone/>
            </a:pPr>
            <a:r>
              <a:rPr lang="en-US" sz="1400" dirty="0">
                <a:solidFill>
                  <a:srgbClr val="2D4A8C"/>
                </a:solidFill>
              </a:rPr>
              <a:t>▼</a:t>
            </a:r>
            <a:endParaRPr lang="en-US" sz="1400" dirty="0"/>
          </a:p>
        </p:txBody>
      </p:sp>
      <p:sp>
        <p:nvSpPr>
          <p:cNvPr id="17" name="Text 15"/>
          <p:cNvSpPr/>
          <p:nvPr/>
        </p:nvSpPr>
        <p:spPr>
          <a:xfrm>
            <a:off x="6309360" y="2651760"/>
            <a:ext cx="457200" cy="274320"/>
          </a:xfrm>
          <a:prstGeom prst="rect">
            <a:avLst/>
          </a:prstGeom>
          <a:noFill/>
          <a:ln/>
        </p:spPr>
        <p:txBody>
          <a:bodyPr wrap="square" lIns="0" tIns="0" rIns="0" bIns="0" rtlCol="0" anchor="ctr"/>
          <a:lstStyle/>
          <a:p>
            <a:pPr algn="ctr" indent="0" marL="0">
              <a:buNone/>
            </a:pPr>
            <a:r>
              <a:rPr lang="en-US" sz="1400" dirty="0">
                <a:solidFill>
                  <a:srgbClr val="2D4A8C"/>
                </a:solidFill>
              </a:rPr>
              <a:t>▼</a:t>
            </a:r>
            <a:endParaRPr lang="en-US" sz="1400" dirty="0"/>
          </a:p>
        </p:txBody>
      </p:sp>
      <p:sp>
        <p:nvSpPr>
          <p:cNvPr id="18" name="Shape 16"/>
          <p:cNvSpPr/>
          <p:nvPr/>
        </p:nvSpPr>
        <p:spPr>
          <a:xfrm>
            <a:off x="548640" y="3657600"/>
            <a:ext cx="8046720" cy="82296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9" name="Shape 17"/>
          <p:cNvSpPr/>
          <p:nvPr/>
        </p:nvSpPr>
        <p:spPr>
          <a:xfrm>
            <a:off x="548640" y="3657600"/>
            <a:ext cx="64008" cy="822960"/>
          </a:xfrm>
          <a:prstGeom prst="rect">
            <a:avLst/>
          </a:prstGeom>
          <a:solidFill>
            <a:srgbClr val="10B981"/>
          </a:solidFill>
          <a:ln/>
        </p:spPr>
      </p:sp>
      <p:sp>
        <p:nvSpPr>
          <p:cNvPr id="20" name="Text 18"/>
          <p:cNvSpPr/>
          <p:nvPr/>
        </p:nvSpPr>
        <p:spPr>
          <a:xfrm>
            <a:off x="777240" y="3703320"/>
            <a:ext cx="1371600" cy="320040"/>
          </a:xfrm>
          <a:prstGeom prst="rect">
            <a:avLst/>
          </a:prstGeom>
          <a:noFill/>
          <a:ln/>
        </p:spPr>
        <p:txBody>
          <a:bodyPr wrap="square" lIns="0" tIns="0" rIns="0" bIns="0" rtlCol="0" anchor="ctr"/>
          <a:lstStyle/>
          <a:p>
            <a:pPr indent="0" marL="0">
              <a:buNone/>
            </a:pPr>
            <a:r>
              <a:rPr lang="en-US" sz="1200" b="1" dirty="0">
                <a:solidFill>
                  <a:srgbClr val="0F1B3D"/>
                </a:solidFill>
                <a:latin typeface="Georgia" pitchFamily="34" charset="0"/>
                <a:ea typeface="Georgia" pitchFamily="34" charset="-122"/>
                <a:cs typeface="Georgia" pitchFamily="34" charset="-120"/>
              </a:rPr>
              <a:t>Result</a:t>
            </a:r>
            <a:endParaRPr lang="en-US" sz="1200" dirty="0"/>
          </a:p>
        </p:txBody>
      </p:sp>
      <p:sp>
        <p:nvSpPr>
          <p:cNvPr id="21" name="Text 19"/>
          <p:cNvSpPr/>
          <p:nvPr/>
        </p:nvSpPr>
        <p:spPr>
          <a:xfrm>
            <a:off x="777240" y="3977640"/>
            <a:ext cx="758952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The reasoning agent sees 15 focused evidence chunks instead of 10K tokens of everything — dramatically improving signal-to-noise ratio.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Evaluation Setup</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11</a:t>
            </a:r>
            <a:endParaRPr lang="en-US" sz="900" dirty="0"/>
          </a:p>
        </p:txBody>
      </p:sp>
      <p:sp>
        <p:nvSpPr>
          <p:cNvPr id="6" name="Shape 4"/>
          <p:cNvSpPr/>
          <p:nvPr/>
        </p:nvSpPr>
        <p:spPr>
          <a:xfrm>
            <a:off x="548640" y="1051560"/>
            <a:ext cx="3840480" cy="182880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731520" y="1143000"/>
            <a:ext cx="320040" cy="320040"/>
          </a:xfrm>
          <a:prstGeom prst="rect">
            <a:avLst/>
          </a:prstGeom>
        </p:spPr>
      </p:pic>
      <p:sp>
        <p:nvSpPr>
          <p:cNvPr id="8" name="Text 5"/>
          <p:cNvSpPr/>
          <p:nvPr/>
        </p:nvSpPr>
        <p:spPr>
          <a:xfrm>
            <a:off x="1143000" y="1143000"/>
            <a:ext cx="2743200" cy="320040"/>
          </a:xfrm>
          <a:prstGeom prst="rect">
            <a:avLst/>
          </a:prstGeom>
          <a:noFill/>
          <a:ln/>
        </p:spPr>
        <p:txBody>
          <a:bodyPr wrap="square" lIns="0" tIns="0" rIns="0" bIns="0" rtlCol="0" anchor="ctr"/>
          <a:lstStyle/>
          <a:p>
            <a:pPr indent="0" marL="0">
              <a:buNone/>
            </a:pPr>
            <a:r>
              <a:rPr lang="en-US" sz="1400" b="1" dirty="0">
                <a:solidFill>
                  <a:srgbClr val="0F1B3D"/>
                </a:solidFill>
                <a:latin typeface="Georgia" pitchFamily="34" charset="0"/>
                <a:ea typeface="Georgia" pitchFamily="34" charset="-122"/>
                <a:cs typeface="Georgia" pitchFamily="34" charset="-120"/>
              </a:rPr>
              <a:t>Dataset</a:t>
            </a:r>
            <a:endParaRPr lang="en-US" sz="1400" dirty="0"/>
          </a:p>
        </p:txBody>
      </p:sp>
      <p:sp>
        <p:nvSpPr>
          <p:cNvPr id="9" name="Text 6"/>
          <p:cNvSpPr/>
          <p:nvPr/>
        </p:nvSpPr>
        <p:spPr>
          <a:xfrm>
            <a:off x="731520" y="1554480"/>
            <a:ext cx="3474720" cy="1234440"/>
          </a:xfrm>
          <a:prstGeom prst="rect">
            <a:avLst/>
          </a:prstGeom>
          <a:noFill/>
          <a:ln/>
        </p:spPr>
        <p:txBody>
          <a:bodyPr wrap="square" lIns="0" tIns="0" rIns="0" bIns="0" rtlCol="0" anchor="ctr"/>
          <a:lstStyle/>
          <a:p>
            <a:pPr indent="0" marL="0">
              <a:lnSpc>
                <a:spcPct val="135000"/>
              </a:lnSpc>
              <a:buNone/>
            </a:pPr>
            <a:r>
              <a:rPr lang="en-US" sz="1200" b="1" dirty="0">
                <a:solidFill>
                  <a:srgbClr val="475569"/>
                </a:solidFill>
                <a:latin typeface="Calibri" pitchFamily="34" charset="0"/>
                <a:ea typeface="Calibri" pitchFamily="34" charset="-122"/>
                <a:cs typeface="Calibri" pitchFamily="34" charset="-120"/>
              </a:rPr>
              <a:t>MIMIC-IV Clinical Database Demo (FHIR)</a:t>
            </a:r>
            <a:endParaRPr lang="en-US" sz="1200" dirty="0"/>
          </a:p>
          <a:p>
            <a:pPr indent="0" marL="0">
              <a:lnSpc>
                <a:spcPct val="135000"/>
              </a:lnSpc>
              <a:buNone/>
            </a:pPr>
            <a:r>
              <a:rPr lang="en-US" sz="1200" dirty="0">
                <a:solidFill>
                  <a:srgbClr val="475569"/>
                </a:solidFill>
                <a:latin typeface="Calibri" pitchFamily="34" charset="0"/>
                <a:ea typeface="Calibri" pitchFamily="34" charset="-122"/>
                <a:cs typeface="Calibri" pitchFamily="34" charset="-120"/>
              </a:rPr>
              <a:t>10 patients × 8 queries = 80 evaluations</a:t>
            </a:r>
            <a:endParaRPr lang="en-US" sz="1200" dirty="0"/>
          </a:p>
          <a:p>
            <a:pPr indent="0" marL="0">
              <a:lnSpc>
                <a:spcPct val="135000"/>
              </a:lnSpc>
              <a:buNone/>
            </a:pPr>
            <a:r>
              <a:rPr lang="en-US" sz="1200" dirty="0">
                <a:solidFill>
                  <a:srgbClr val="475569"/>
                </a:solidFill>
                <a:latin typeface="Calibri" pitchFamily="34" charset="0"/>
                <a:ea typeface="Calibri" pitchFamily="34" charset="-122"/>
                <a:cs typeface="Calibri" pitchFamily="34" charset="-120"/>
              </a:rPr>
              <a:t>Query types: Factual, Medication,</a:t>
            </a:r>
            <a:endParaRPr lang="en-US" sz="1200" dirty="0"/>
          </a:p>
          <a:p>
            <a:pPr indent="0" marL="0">
              <a:lnSpc>
                <a:spcPct val="135000"/>
              </a:lnSpc>
              <a:buNone/>
            </a:pPr>
            <a:r>
              <a:rPr lang="en-US" sz="1200" dirty="0">
                <a:solidFill>
                  <a:srgbClr val="475569"/>
                </a:solidFill>
                <a:latin typeface="Calibri" pitchFamily="34" charset="0"/>
                <a:ea typeface="Calibri" pitchFamily="34" charset="-122"/>
                <a:cs typeface="Calibri" pitchFamily="34" charset="-120"/>
              </a:rPr>
              <a:t>Temporal, Summary, Reasoning</a:t>
            </a:r>
            <a:endParaRPr lang="en-US" sz="1200" dirty="0"/>
          </a:p>
        </p:txBody>
      </p:sp>
      <p:sp>
        <p:nvSpPr>
          <p:cNvPr id="10" name="Shape 7"/>
          <p:cNvSpPr/>
          <p:nvPr/>
        </p:nvSpPr>
        <p:spPr>
          <a:xfrm>
            <a:off x="4754880" y="1051560"/>
            <a:ext cx="3840480" cy="182880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11" name="Image 1" descr="preencoded.png">    </p:cNvPr>
          <p:cNvPicPr>
            <a:picLocks noChangeAspect="1"/>
          </p:cNvPicPr>
          <p:nvPr/>
        </p:nvPicPr>
        <p:blipFill>
          <a:blip r:embed="rId2"/>
          <a:stretch>
            <a:fillRect/>
          </a:stretch>
        </p:blipFill>
        <p:spPr>
          <a:xfrm>
            <a:off x="4937760" y="1143000"/>
            <a:ext cx="320040" cy="320040"/>
          </a:xfrm>
          <a:prstGeom prst="rect">
            <a:avLst/>
          </a:prstGeom>
        </p:spPr>
      </p:pic>
      <p:sp>
        <p:nvSpPr>
          <p:cNvPr id="12" name="Text 8"/>
          <p:cNvSpPr/>
          <p:nvPr/>
        </p:nvSpPr>
        <p:spPr>
          <a:xfrm>
            <a:off x="5349240" y="1143000"/>
            <a:ext cx="2743200" cy="320040"/>
          </a:xfrm>
          <a:prstGeom prst="rect">
            <a:avLst/>
          </a:prstGeom>
          <a:noFill/>
          <a:ln/>
        </p:spPr>
        <p:txBody>
          <a:bodyPr wrap="square" lIns="0" tIns="0" rIns="0" bIns="0" rtlCol="0" anchor="ctr"/>
          <a:lstStyle/>
          <a:p>
            <a:pPr indent="0" marL="0">
              <a:buNone/>
            </a:pPr>
            <a:r>
              <a:rPr lang="en-US" sz="1400" b="1" dirty="0">
                <a:solidFill>
                  <a:srgbClr val="0F1B3D"/>
                </a:solidFill>
                <a:latin typeface="Georgia" pitchFamily="34" charset="0"/>
                <a:ea typeface="Georgia" pitchFamily="34" charset="-122"/>
                <a:cs typeface="Georgia" pitchFamily="34" charset="-120"/>
              </a:rPr>
              <a:t>Baselines</a:t>
            </a:r>
            <a:endParaRPr lang="en-US" sz="1400" dirty="0"/>
          </a:p>
        </p:txBody>
      </p:sp>
      <p:sp>
        <p:nvSpPr>
          <p:cNvPr id="13" name="Text 9"/>
          <p:cNvSpPr/>
          <p:nvPr/>
        </p:nvSpPr>
        <p:spPr>
          <a:xfrm>
            <a:off x="4937760" y="1554480"/>
            <a:ext cx="3474720" cy="1234440"/>
          </a:xfrm>
          <a:prstGeom prst="rect">
            <a:avLst/>
          </a:prstGeom>
          <a:noFill/>
          <a:ln/>
        </p:spPr>
        <p:txBody>
          <a:bodyPr wrap="square" lIns="0" tIns="0" rIns="0" bIns="0" rtlCol="0" anchor="ctr"/>
          <a:lstStyle/>
          <a:p>
            <a:pPr indent="0" marL="0">
              <a:lnSpc>
                <a:spcPct val="135000"/>
              </a:lnSpc>
              <a:buNone/>
            </a:pPr>
            <a:r>
              <a:rPr lang="en-US" sz="1200" b="1" dirty="0">
                <a:solidFill>
                  <a:srgbClr val="475569"/>
                </a:solidFill>
                <a:latin typeface="Calibri" pitchFamily="34" charset="0"/>
                <a:ea typeface="Calibri" pitchFamily="34" charset="-122"/>
                <a:cs typeface="Calibri" pitchFamily="34" charset="-120"/>
              </a:rPr>
              <a:t>5 models (one-shot, full record in prompt):</a:t>
            </a:r>
            <a:endParaRPr lang="en-US" sz="1200" dirty="0"/>
          </a:p>
          <a:p>
            <a:pPr indent="0" marL="0">
              <a:lnSpc>
                <a:spcPct val="135000"/>
              </a:lnSpc>
              <a:buNone/>
            </a:pPr>
            <a:r>
              <a:rPr lang="en-US" sz="1200" dirty="0">
                <a:solidFill>
                  <a:srgbClr val="475569"/>
                </a:solidFill>
                <a:latin typeface="Calibri" pitchFamily="34" charset="0"/>
                <a:ea typeface="Calibri" pitchFamily="34" charset="-122"/>
                <a:cs typeface="Calibri" pitchFamily="34" charset="-120"/>
              </a:rPr>
              <a:t>GPT-5, Sonnet 4.5, Gemini 3 Pro,</a:t>
            </a:r>
            <a:endParaRPr lang="en-US" sz="1200" dirty="0"/>
          </a:p>
          <a:p>
            <a:pPr indent="0" marL="0">
              <a:lnSpc>
                <a:spcPct val="135000"/>
              </a:lnSpc>
              <a:buNone/>
            </a:pPr>
            <a:r>
              <a:rPr lang="en-US" sz="1200" dirty="0">
                <a:solidFill>
                  <a:srgbClr val="475569"/>
                </a:solidFill>
                <a:latin typeface="Calibri" pitchFamily="34" charset="0"/>
                <a:ea typeface="Calibri" pitchFamily="34" charset="-122"/>
                <a:cs typeface="Calibri" pitchFamily="34" charset="-120"/>
              </a:rPr>
              <a:t>GLM 4.6, Haiku 3.5</a:t>
            </a:r>
            <a:endParaRPr lang="en-US" sz="1200" dirty="0"/>
          </a:p>
        </p:txBody>
      </p:sp>
      <p:sp>
        <p:nvSpPr>
          <p:cNvPr id="14" name="Shape 10"/>
          <p:cNvSpPr/>
          <p:nvPr/>
        </p:nvSpPr>
        <p:spPr>
          <a:xfrm>
            <a:off x="548640" y="3108960"/>
            <a:ext cx="8046720" cy="91440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5" name="Shape 11"/>
          <p:cNvSpPr/>
          <p:nvPr/>
        </p:nvSpPr>
        <p:spPr>
          <a:xfrm>
            <a:off x="548640" y="3108960"/>
            <a:ext cx="64008" cy="914400"/>
          </a:xfrm>
          <a:prstGeom prst="rect">
            <a:avLst/>
          </a:prstGeom>
          <a:solidFill>
            <a:srgbClr val="10B981"/>
          </a:solidFill>
          <a:ln/>
        </p:spPr>
      </p:sp>
      <p:pic>
        <p:nvPicPr>
          <p:cNvPr id="16" name="Image 2" descr="preencoded.png">    </p:cNvPr>
          <p:cNvPicPr>
            <a:picLocks noChangeAspect="1"/>
          </p:cNvPicPr>
          <p:nvPr/>
        </p:nvPicPr>
        <p:blipFill>
          <a:blip r:embed="rId3"/>
          <a:stretch>
            <a:fillRect/>
          </a:stretch>
        </p:blipFill>
        <p:spPr>
          <a:xfrm>
            <a:off x="777240" y="3200400"/>
            <a:ext cx="274320" cy="274320"/>
          </a:xfrm>
          <a:prstGeom prst="rect">
            <a:avLst/>
          </a:prstGeom>
        </p:spPr>
      </p:pic>
      <p:sp>
        <p:nvSpPr>
          <p:cNvPr id="17" name="Text 12"/>
          <p:cNvSpPr/>
          <p:nvPr/>
        </p:nvSpPr>
        <p:spPr>
          <a:xfrm>
            <a:off x="1143000" y="3200400"/>
            <a:ext cx="2743200" cy="274320"/>
          </a:xfrm>
          <a:prstGeom prst="rect">
            <a:avLst/>
          </a:prstGeom>
          <a:noFill/>
          <a:ln/>
        </p:spPr>
        <p:txBody>
          <a:bodyPr wrap="square" lIns="0" tIns="0" rIns="0" bIns="0" rtlCol="0" anchor="ctr"/>
          <a:lstStyle/>
          <a:p>
            <a:pPr indent="0" marL="0">
              <a:buNone/>
            </a:pPr>
            <a:r>
              <a:rPr lang="en-US" sz="1300" b="1" dirty="0">
                <a:solidFill>
                  <a:srgbClr val="0F1B3D"/>
                </a:solidFill>
                <a:latin typeface="Georgia" pitchFamily="34" charset="0"/>
                <a:ea typeface="Georgia" pitchFamily="34" charset="-122"/>
                <a:cs typeface="Georgia" pitchFamily="34" charset="-120"/>
              </a:rPr>
              <a:t>Zero-Cost Ground Truth</a:t>
            </a:r>
            <a:endParaRPr lang="en-US" sz="1300" dirty="0"/>
          </a:p>
        </p:txBody>
      </p:sp>
      <p:sp>
        <p:nvSpPr>
          <p:cNvPr id="18" name="Text 13"/>
          <p:cNvSpPr/>
          <p:nvPr/>
        </p:nvSpPr>
        <p:spPr>
          <a:xfrm>
            <a:off x="777240" y="3520440"/>
            <a:ext cx="758952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Extract reference entities directly from FHIR structured data — no human annotation, no LLM-as-judge bias.</a:t>
            </a:r>
            <a:endParaRPr lang="en-US" sz="1200" dirty="0"/>
          </a:p>
        </p:txBody>
      </p:sp>
      <p:sp>
        <p:nvSpPr>
          <p:cNvPr id="19" name="Text 14"/>
          <p:cNvSpPr/>
          <p:nvPr/>
        </p:nvSpPr>
        <p:spPr>
          <a:xfrm>
            <a:off x="548640" y="4206240"/>
            <a:ext cx="731520" cy="320040"/>
          </a:xfrm>
          <a:prstGeom prst="rect">
            <a:avLst/>
          </a:prstGeom>
          <a:noFill/>
          <a:ln/>
        </p:spPr>
        <p:txBody>
          <a:bodyPr wrap="square" lIns="0" tIns="0" rIns="0" bIns="0" rtlCol="0" anchor="ctr"/>
          <a:lstStyle/>
          <a:p>
            <a:pPr indent="0" marL="0">
              <a:buNone/>
            </a:pPr>
            <a:r>
              <a:rPr lang="en-US" sz="1100" b="1" dirty="0">
                <a:solidFill>
                  <a:srgbClr val="0F1B3D"/>
                </a:solidFill>
                <a:latin typeface="Calibri" pitchFamily="34" charset="0"/>
                <a:ea typeface="Calibri" pitchFamily="34" charset="-122"/>
                <a:cs typeface="Calibri" pitchFamily="34" charset="-120"/>
              </a:rPr>
              <a:t>Metrics:</a:t>
            </a:r>
            <a:endParaRPr lang="en-US" sz="1100" dirty="0"/>
          </a:p>
        </p:txBody>
      </p:sp>
      <p:sp>
        <p:nvSpPr>
          <p:cNvPr id="20" name="Shape 15"/>
          <p:cNvSpPr/>
          <p:nvPr/>
        </p:nvSpPr>
        <p:spPr>
          <a:xfrm>
            <a:off x="1371600" y="4206240"/>
            <a:ext cx="1417320" cy="320040"/>
          </a:xfrm>
          <a:prstGeom prst="rect">
            <a:avLst/>
          </a:prstGeom>
          <a:solidFill>
            <a:srgbClr val="3B82F6"/>
          </a:solidFill>
          <a:ln/>
        </p:spPr>
      </p:sp>
      <p:sp>
        <p:nvSpPr>
          <p:cNvPr id="21" name="Text 16"/>
          <p:cNvSpPr/>
          <p:nvPr/>
        </p:nvSpPr>
        <p:spPr>
          <a:xfrm>
            <a:off x="1371600" y="420624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Entity F1</a:t>
            </a:r>
            <a:endParaRPr lang="en-US" sz="900" dirty="0"/>
          </a:p>
        </p:txBody>
      </p:sp>
      <p:sp>
        <p:nvSpPr>
          <p:cNvPr id="22" name="Shape 17"/>
          <p:cNvSpPr/>
          <p:nvPr/>
        </p:nvSpPr>
        <p:spPr>
          <a:xfrm>
            <a:off x="2880360" y="4206240"/>
            <a:ext cx="1417320" cy="320040"/>
          </a:xfrm>
          <a:prstGeom prst="rect">
            <a:avLst/>
          </a:prstGeom>
          <a:solidFill>
            <a:srgbClr val="3B82F6"/>
          </a:solidFill>
          <a:ln/>
        </p:spPr>
      </p:sp>
      <p:sp>
        <p:nvSpPr>
          <p:cNvPr id="23" name="Text 18"/>
          <p:cNvSpPr/>
          <p:nvPr/>
        </p:nvSpPr>
        <p:spPr>
          <a:xfrm>
            <a:off x="2880360" y="420624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p>
        </p:txBody>
      </p:sp>
      <p:sp>
        <p:nvSpPr>
          <p:cNvPr id="24" name="Shape 19"/>
          <p:cNvSpPr/>
          <p:nvPr/>
        </p:nvSpPr>
        <p:spPr>
          <a:xfrm>
            <a:off x="4389120" y="4206240"/>
            <a:ext cx="1417320" cy="320040"/>
          </a:xfrm>
          <a:prstGeom prst="rect">
            <a:avLst/>
          </a:prstGeom>
          <a:solidFill>
            <a:srgbClr val="3B82F6"/>
          </a:solidFill>
          <a:ln/>
        </p:spPr>
      </p:sp>
      <p:sp>
        <p:nvSpPr>
          <p:cNvPr id="25" name="Text 20"/>
          <p:cNvSpPr/>
          <p:nvPr/>
        </p:nvSpPr>
        <p:spPr>
          <a:xfrm>
            <a:off x="4389120" y="420624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Recall</a:t>
            </a:r>
            <a:endParaRPr lang="en-US" sz="900" dirty="0"/>
          </a:p>
        </p:txBody>
      </p:sp>
      <p:sp>
        <p:nvSpPr>
          <p:cNvPr id="26" name="Shape 21"/>
          <p:cNvSpPr/>
          <p:nvPr/>
        </p:nvSpPr>
        <p:spPr>
          <a:xfrm>
            <a:off x="5897880" y="4206240"/>
            <a:ext cx="1417320" cy="320040"/>
          </a:xfrm>
          <a:prstGeom prst="rect">
            <a:avLst/>
          </a:prstGeom>
          <a:solidFill>
            <a:srgbClr val="3B82F6"/>
          </a:solidFill>
          <a:ln/>
        </p:spPr>
      </p:sp>
      <p:sp>
        <p:nvSpPr>
          <p:cNvPr id="27" name="Text 22"/>
          <p:cNvSpPr/>
          <p:nvPr/>
        </p:nvSpPr>
        <p:spPr>
          <a:xfrm>
            <a:off x="5897880" y="420624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Hallucination Rate</a:t>
            </a:r>
            <a:endParaRPr lang="en-US" sz="900" dirty="0"/>
          </a:p>
        </p:txBody>
      </p:sp>
      <p:sp>
        <p:nvSpPr>
          <p:cNvPr id="28" name="Shape 23"/>
          <p:cNvSpPr/>
          <p:nvPr/>
        </p:nvSpPr>
        <p:spPr>
          <a:xfrm>
            <a:off x="7406640" y="4206240"/>
            <a:ext cx="1417320" cy="320040"/>
          </a:xfrm>
          <a:prstGeom prst="rect">
            <a:avLst/>
          </a:prstGeom>
          <a:solidFill>
            <a:srgbClr val="3B82F6"/>
          </a:solidFill>
          <a:ln/>
        </p:spPr>
      </p:sp>
      <p:sp>
        <p:nvSpPr>
          <p:cNvPr id="29" name="Text 24"/>
          <p:cNvSpPr/>
          <p:nvPr/>
        </p:nvSpPr>
        <p:spPr>
          <a:xfrm>
            <a:off x="7406640" y="4206240"/>
            <a:ext cx="141732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Abstention Accuracy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Main Results</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11</a:t>
            </a:r>
            <a:endParaRPr lang="en-US" sz="900" dirty="0"/>
          </a:p>
        </p:txBody>
      </p:sp>
      <p:sp>
        <p:nvSpPr>
          <p:cNvPr id="6" name="Text 4"/>
          <p:cNvSpPr/>
          <p:nvPr/>
        </p:nvSpPr>
        <p:spPr>
          <a:xfrm>
            <a:off x="548640" y="960120"/>
            <a:ext cx="8046720" cy="365760"/>
          </a:xfrm>
          <a:prstGeom prst="rect">
            <a:avLst/>
          </a:prstGeom>
          <a:noFill/>
          <a:ln/>
        </p:spPr>
        <p:txBody>
          <a:bodyPr wrap="square" lIns="0" tIns="0" rIns="0" bIns="0" rtlCol="0" anchor="ctr"/>
          <a:lstStyle/>
          <a:p>
            <a:pPr indent="0" marL="0">
              <a:buNone/>
            </a:pPr>
            <a:r>
              <a:rPr lang="en-US" sz="1600" b="1" dirty="0">
                <a:solidFill>
                  <a:srgbClr val="3B82F6"/>
                </a:solidFill>
                <a:latin typeface="Georgia" pitchFamily="34" charset="0"/>
                <a:ea typeface="Georgia" pitchFamily="34" charset="-122"/>
                <a:cs typeface="Georgia" pitchFamily="34" charset="-120"/>
              </a:rPr>
              <a:t>20% improvement in Entity F1 over best baseline</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8595360" cy="914400"/>
        </p:xfrm>
        <a:graphic>
          <a:graphicData uri="http://schemas.openxmlformats.org/drawingml/2006/table">
            <a:tbl>
              <a:tblPr/>
              <a:tblGrid>
                <a:gridCol w="1371600"/>
                <a:gridCol w="1188720"/>
                <a:gridCol w="1188720"/>
                <a:gridCol w="1188720"/>
                <a:gridCol w="1188720"/>
                <a:gridCol w="1188720"/>
                <a:gridCol w="1188720"/>
              </a:tblGrid>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Proposed</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B82F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Sonnet 4.5</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Haiku 3.5</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GPT-5</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GLM 4.6</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Gemini 3</a:t>
                      </a:r>
                      <a:endParaRPr lang="en-US" sz="11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r>
              <a:tr h="502920">
                <a:tc>
                  <a:txBody>
                    <a:bodyPr/>
                    <a:lstStyle/>
                    <a:p>
                      <a:pPr algn="l" indent="0" marL="0">
                        <a:buNone/>
                      </a:pPr>
                      <a:r>
                        <a:rPr lang="en-US" sz="1200" b="1" dirty="0">
                          <a:solidFill>
                            <a:srgbClr val="0F1B3D"/>
                          </a:solidFill>
                          <a:latin typeface="Calibri" pitchFamily="34" charset="0"/>
                          <a:ea typeface="Calibri" pitchFamily="34" charset="-122"/>
                          <a:cs typeface="Calibri" pitchFamily="34" charset="-120"/>
                        </a:rPr>
                        <a:t>Entity F1</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B82F6"/>
                          </a:solidFill>
                          <a:latin typeface="Calibri" pitchFamily="34" charset="0"/>
                          <a:ea typeface="Calibri" pitchFamily="34" charset="-122"/>
                          <a:cs typeface="Calibri" pitchFamily="34" charset="-120"/>
                        </a:rPr>
                        <a:t>0.639</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0.531</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0.482</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0.331</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0.308</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0.234</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B3D"/>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B82F6"/>
                          </a:solidFill>
                          <a:latin typeface="Calibri" pitchFamily="34" charset="0"/>
                          <a:ea typeface="Calibri" pitchFamily="34" charset="-122"/>
                          <a:cs typeface="Calibri" pitchFamily="34" charset="-120"/>
                        </a:rPr>
                        <a:t>0.850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0.763</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0.796</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0.556</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0.524</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0.627</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B3D"/>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B82F6"/>
                          </a:solidFill>
                          <a:latin typeface="Calibri" pitchFamily="34" charset="0"/>
                          <a:ea typeface="Calibri" pitchFamily="34" charset="-122"/>
                          <a:cs typeface="Calibri" pitchFamily="34" charset="-120"/>
                        </a:rPr>
                        <a:t>0.555</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0.449</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0.397</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0.281</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0.259</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0.184</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B3D"/>
                          </a:solidFill>
                          <a:latin typeface="Calibri" pitchFamily="34" charset="0"/>
                          <a:ea typeface="Calibri" pitchFamily="34" charset="-122"/>
                          <a:cs typeface="Calibri" pitchFamily="34" charset="-120"/>
                        </a:rPr>
                        <a:t>Hallucination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B82F6"/>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20.9%</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23.0%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B3D"/>
                          </a:solidFill>
                          <a:latin typeface="Calibri" pitchFamily="34" charset="0"/>
                          <a:ea typeface="Calibri" pitchFamily="34" charset="-122"/>
                          <a:cs typeface="Calibri" pitchFamily="34" charset="-120"/>
                        </a:rPr>
                        <a:t>Abstention Acc.</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B82F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5"/>
          <p:cNvSpPr/>
          <p:nvPr/>
        </p:nvSpPr>
        <p:spPr>
          <a:xfrm>
            <a:off x="274320" y="4434840"/>
            <a:ext cx="8595360" cy="365760"/>
          </a:xfrm>
          <a:prstGeom prst="rect">
            <a:avLst/>
          </a:prstGeom>
          <a:solidFill>
            <a:srgbClr val="0F1B3D"/>
          </a:solidFill>
          <a:ln/>
        </p:spPr>
      </p:sp>
      <p:sp>
        <p:nvSpPr>
          <p:cNvPr id="9" name="Text 6"/>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Entity F1: 0.639  |  Precision: 85%  |  Abstention: 100%  |  Hallucination: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Results by Query Type</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11</a:t>
            </a:r>
            <a:endParaRPr lang="en-US" sz="900" dirty="0"/>
          </a:p>
        </p:txBody>
      </p:sp>
      <p:sp>
        <p:nvSpPr>
          <p:cNvPr id="6" name="Text 4"/>
          <p:cNvSpPr/>
          <p:nvPr/>
        </p:nvSpPr>
        <p:spPr>
          <a:xfrm>
            <a:off x="548640" y="960120"/>
            <a:ext cx="8046720" cy="365760"/>
          </a:xfrm>
          <a:prstGeom prst="rect">
            <a:avLst/>
          </a:prstGeom>
          <a:noFill/>
          <a:ln/>
        </p:spPr>
        <p:txBody>
          <a:bodyPr wrap="square" lIns="0" tIns="0" rIns="0" bIns="0" rtlCol="0" anchor="ctr"/>
          <a:lstStyle/>
          <a:p>
            <a:pPr indent="0" marL="0">
              <a:buNone/>
            </a:pPr>
            <a:r>
              <a:rPr lang="en-US" sz="1400" b="1" dirty="0">
                <a:solidFill>
                  <a:srgbClr val="3B82F6"/>
                </a:solidFill>
                <a:latin typeface="Georgia" pitchFamily="34" charset="0"/>
                <a:ea typeface="Georgia" pitchFamily="34" charset="-122"/>
                <a:cs typeface="Georgia" pitchFamily="34" charset="-120"/>
              </a:rPr>
              <a:t>Medication queries: 0.770 vs GPT-5's 0.007 — over 100x improvement</a:t>
            </a:r>
            <a:endParaRPr lang="en-US" sz="1400" dirty="0"/>
          </a:p>
        </p:txBody>
      </p:sp>
      <p:sp>
        <p:nvSpPr>
          <p:cNvPr id="7" name="Shape 5"/>
          <p:cNvSpPr/>
          <p:nvPr/>
        </p:nvSpPr>
        <p:spPr>
          <a:xfrm>
            <a:off x="548640" y="1417320"/>
            <a:ext cx="8046720" cy="2011680"/>
          </a:xfrm>
          <a:prstGeom prst="rect">
            <a:avLst/>
          </a:prstGeom>
          <a:solidFill>
            <a:srgbClr val="F0F4FA"/>
          </a:solidFill>
          <a:ln w="6350">
            <a:solidFill>
              <a:srgbClr val="E2E8F0"/>
            </a:solidFill>
            <a:prstDash val="solid"/>
          </a:ln>
        </p:spPr>
      </p:sp>
      <p:sp>
        <p:nvSpPr>
          <p:cNvPr id="8" name="Shape 6"/>
          <p:cNvSpPr/>
          <p:nvPr/>
        </p:nvSpPr>
        <p:spPr>
          <a:xfrm>
            <a:off x="548640" y="3429000"/>
            <a:ext cx="8046720" cy="0"/>
          </a:xfrm>
          <a:prstGeom prst="line">
            <a:avLst/>
          </a:prstGeom>
          <a:noFill/>
          <a:ln w="3810">
            <a:solidFill>
              <a:srgbClr val="E2E8F0"/>
            </a:solidFill>
            <a:prstDash val="solid"/>
          </a:ln>
        </p:spPr>
      </p:sp>
      <p:sp>
        <p:nvSpPr>
          <p:cNvPr id="9" name="Text 7"/>
          <p:cNvSpPr/>
          <p:nvPr/>
        </p:nvSpPr>
        <p:spPr>
          <a:xfrm>
            <a:off x="182880" y="3337560"/>
            <a:ext cx="32004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0.0</a:t>
            </a:r>
            <a:endParaRPr lang="en-US" sz="700" dirty="0"/>
          </a:p>
        </p:txBody>
      </p:sp>
      <p:sp>
        <p:nvSpPr>
          <p:cNvPr id="10" name="Shape 8"/>
          <p:cNvSpPr/>
          <p:nvPr/>
        </p:nvSpPr>
        <p:spPr>
          <a:xfrm>
            <a:off x="548640" y="2926080"/>
            <a:ext cx="8046720" cy="0"/>
          </a:xfrm>
          <a:prstGeom prst="line">
            <a:avLst/>
          </a:prstGeom>
          <a:noFill/>
          <a:ln w="3810">
            <a:solidFill>
              <a:srgbClr val="E2E8F0"/>
            </a:solidFill>
            <a:prstDash val="solid"/>
          </a:ln>
        </p:spPr>
      </p:sp>
      <p:sp>
        <p:nvSpPr>
          <p:cNvPr id="11" name="Text 9"/>
          <p:cNvSpPr/>
          <p:nvPr/>
        </p:nvSpPr>
        <p:spPr>
          <a:xfrm>
            <a:off x="182880" y="2834640"/>
            <a:ext cx="32004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0.2</a:t>
            </a:r>
            <a:endParaRPr lang="en-US" sz="700" dirty="0"/>
          </a:p>
        </p:txBody>
      </p:sp>
      <p:sp>
        <p:nvSpPr>
          <p:cNvPr id="12" name="Shape 10"/>
          <p:cNvSpPr/>
          <p:nvPr/>
        </p:nvSpPr>
        <p:spPr>
          <a:xfrm>
            <a:off x="548640" y="2423160"/>
            <a:ext cx="8046720" cy="0"/>
          </a:xfrm>
          <a:prstGeom prst="line">
            <a:avLst/>
          </a:prstGeom>
          <a:noFill/>
          <a:ln w="3810">
            <a:solidFill>
              <a:srgbClr val="E2E8F0"/>
            </a:solidFill>
            <a:prstDash val="solid"/>
          </a:ln>
        </p:spPr>
      </p:sp>
      <p:sp>
        <p:nvSpPr>
          <p:cNvPr id="13" name="Text 11"/>
          <p:cNvSpPr/>
          <p:nvPr/>
        </p:nvSpPr>
        <p:spPr>
          <a:xfrm>
            <a:off x="182880" y="2331720"/>
            <a:ext cx="32004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0.4</a:t>
            </a:r>
            <a:endParaRPr lang="en-US" sz="700" dirty="0"/>
          </a:p>
        </p:txBody>
      </p:sp>
      <p:sp>
        <p:nvSpPr>
          <p:cNvPr id="14" name="Shape 12"/>
          <p:cNvSpPr/>
          <p:nvPr/>
        </p:nvSpPr>
        <p:spPr>
          <a:xfrm>
            <a:off x="548640" y="1920240"/>
            <a:ext cx="8046720" cy="0"/>
          </a:xfrm>
          <a:prstGeom prst="line">
            <a:avLst/>
          </a:prstGeom>
          <a:noFill/>
          <a:ln w="3810">
            <a:solidFill>
              <a:srgbClr val="E2E8F0"/>
            </a:solidFill>
            <a:prstDash val="solid"/>
          </a:ln>
        </p:spPr>
      </p:sp>
      <p:sp>
        <p:nvSpPr>
          <p:cNvPr id="15" name="Text 13"/>
          <p:cNvSpPr/>
          <p:nvPr/>
        </p:nvSpPr>
        <p:spPr>
          <a:xfrm>
            <a:off x="182880" y="1828800"/>
            <a:ext cx="32004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0.6</a:t>
            </a:r>
            <a:endParaRPr lang="en-US" sz="700" dirty="0"/>
          </a:p>
        </p:txBody>
      </p:sp>
      <p:sp>
        <p:nvSpPr>
          <p:cNvPr id="16" name="Shape 14"/>
          <p:cNvSpPr/>
          <p:nvPr/>
        </p:nvSpPr>
        <p:spPr>
          <a:xfrm>
            <a:off x="548640" y="1417320"/>
            <a:ext cx="8046720" cy="0"/>
          </a:xfrm>
          <a:prstGeom prst="line">
            <a:avLst/>
          </a:prstGeom>
          <a:noFill/>
          <a:ln w="3810">
            <a:solidFill>
              <a:srgbClr val="E2E8F0"/>
            </a:solidFill>
            <a:prstDash val="solid"/>
          </a:ln>
        </p:spPr>
      </p:sp>
      <p:sp>
        <p:nvSpPr>
          <p:cNvPr id="17" name="Text 15"/>
          <p:cNvSpPr/>
          <p:nvPr/>
        </p:nvSpPr>
        <p:spPr>
          <a:xfrm>
            <a:off x="182880" y="1325880"/>
            <a:ext cx="32004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0.8</a:t>
            </a:r>
            <a:endParaRPr lang="en-US" sz="700" dirty="0"/>
          </a:p>
        </p:txBody>
      </p:sp>
      <p:sp>
        <p:nvSpPr>
          <p:cNvPr id="18" name="Text 16"/>
          <p:cNvSpPr/>
          <p:nvPr/>
        </p:nvSpPr>
        <p:spPr>
          <a:xfrm>
            <a:off x="548640" y="3447288"/>
            <a:ext cx="2011680" cy="201168"/>
          </a:xfrm>
          <a:prstGeom prst="rect">
            <a:avLst/>
          </a:prstGeom>
          <a:noFill/>
          <a:ln/>
        </p:spPr>
        <p:txBody>
          <a:bodyPr wrap="square" lIns="0" tIns="0" rIns="0" bIns="0" rtlCol="0" anchor="ctr"/>
          <a:lstStyle/>
          <a:p>
            <a:pPr algn="ctr" indent="0" marL="0">
              <a:buNone/>
            </a:pPr>
            <a:r>
              <a:rPr lang="en-US" sz="900" b="1" dirty="0">
                <a:solidFill>
                  <a:srgbClr val="475569"/>
                </a:solidFill>
                <a:latin typeface="Calibri" pitchFamily="34" charset="0"/>
                <a:ea typeface="Calibri" pitchFamily="34" charset="-122"/>
                <a:cs typeface="Calibri" pitchFamily="34" charset="-120"/>
              </a:rPr>
              <a:t>FACTUAL</a:t>
            </a:r>
            <a:endParaRPr lang="en-US" sz="900" dirty="0"/>
          </a:p>
        </p:txBody>
      </p:sp>
      <p:sp>
        <p:nvSpPr>
          <p:cNvPr id="19" name="Shape 17"/>
          <p:cNvSpPr/>
          <p:nvPr/>
        </p:nvSpPr>
        <p:spPr>
          <a:xfrm>
            <a:off x="850392" y="1902638"/>
            <a:ext cx="301752" cy="1526362"/>
          </a:xfrm>
          <a:prstGeom prst="rect">
            <a:avLst/>
          </a:prstGeom>
          <a:solidFill>
            <a:srgbClr val="3B82F6"/>
          </a:solidFill>
          <a:ln/>
        </p:spPr>
      </p:sp>
      <p:sp>
        <p:nvSpPr>
          <p:cNvPr id="20" name="Text 18"/>
          <p:cNvSpPr/>
          <p:nvPr/>
        </p:nvSpPr>
        <p:spPr>
          <a:xfrm>
            <a:off x="804672" y="1765478"/>
            <a:ext cx="393192" cy="137160"/>
          </a:xfrm>
          <a:prstGeom prst="rect">
            <a:avLst/>
          </a:prstGeom>
          <a:noFill/>
          <a:ln/>
        </p:spPr>
        <p:txBody>
          <a:bodyPr wrap="square" lIns="0" tIns="0" rIns="0" bIns="0" rtlCol="0" anchor="ctr"/>
          <a:lstStyle/>
          <a:p>
            <a:pPr algn="ctr" indent="0" marL="0">
              <a:buNone/>
            </a:pPr>
            <a:r>
              <a:rPr lang="en-US" sz="600" dirty="0">
                <a:solidFill>
                  <a:srgbClr val="3B82F6"/>
                </a:solidFill>
                <a:latin typeface="Calibri" pitchFamily="34" charset="0"/>
                <a:ea typeface="Calibri" pitchFamily="34" charset="-122"/>
                <a:cs typeface="Calibri" pitchFamily="34" charset="-120"/>
              </a:rPr>
              <a:t>0.607</a:t>
            </a:r>
            <a:endParaRPr lang="en-US" sz="600" dirty="0"/>
          </a:p>
        </p:txBody>
      </p:sp>
      <p:sp>
        <p:nvSpPr>
          <p:cNvPr id="21" name="Shape 19"/>
          <p:cNvSpPr/>
          <p:nvPr/>
        </p:nvSpPr>
        <p:spPr>
          <a:xfrm>
            <a:off x="1179576" y="2141525"/>
            <a:ext cx="301752" cy="1287475"/>
          </a:xfrm>
          <a:prstGeom prst="rect">
            <a:avLst/>
          </a:prstGeom>
          <a:solidFill>
            <a:srgbClr val="64748B"/>
          </a:solidFill>
          <a:ln/>
        </p:spPr>
      </p:sp>
      <p:sp>
        <p:nvSpPr>
          <p:cNvPr id="22" name="Text 20"/>
          <p:cNvSpPr/>
          <p:nvPr/>
        </p:nvSpPr>
        <p:spPr>
          <a:xfrm>
            <a:off x="1133856" y="2004365"/>
            <a:ext cx="393192" cy="137160"/>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0.512</a:t>
            </a:r>
            <a:endParaRPr lang="en-US" sz="600" dirty="0"/>
          </a:p>
        </p:txBody>
      </p:sp>
      <p:sp>
        <p:nvSpPr>
          <p:cNvPr id="23" name="Shape 21"/>
          <p:cNvSpPr/>
          <p:nvPr/>
        </p:nvSpPr>
        <p:spPr>
          <a:xfrm>
            <a:off x="1508760" y="2242109"/>
            <a:ext cx="301752" cy="1186891"/>
          </a:xfrm>
          <a:prstGeom prst="rect">
            <a:avLst/>
          </a:prstGeom>
          <a:solidFill>
            <a:srgbClr val="94A3B8"/>
          </a:solidFill>
          <a:ln/>
        </p:spPr>
      </p:sp>
      <p:sp>
        <p:nvSpPr>
          <p:cNvPr id="24" name="Text 22"/>
          <p:cNvSpPr/>
          <p:nvPr/>
        </p:nvSpPr>
        <p:spPr>
          <a:xfrm>
            <a:off x="1463040" y="2104949"/>
            <a:ext cx="393192" cy="137160"/>
          </a:xfrm>
          <a:prstGeom prst="rect">
            <a:avLst/>
          </a:prstGeom>
          <a:noFill/>
          <a:ln/>
        </p:spPr>
        <p:txBody>
          <a:bodyPr wrap="square" lIns="0" tIns="0" rIns="0" bIns="0" rtlCol="0" anchor="ctr"/>
          <a:lstStyle/>
          <a:p>
            <a:pPr algn="ctr" indent="0" marL="0">
              <a:buNone/>
            </a:pPr>
            <a:r>
              <a:rPr lang="en-US" sz="600" dirty="0">
                <a:solidFill>
                  <a:srgbClr val="94A3B8"/>
                </a:solidFill>
                <a:latin typeface="Calibri" pitchFamily="34" charset="0"/>
                <a:ea typeface="Calibri" pitchFamily="34" charset="-122"/>
                <a:cs typeface="Calibri" pitchFamily="34" charset="-120"/>
              </a:rPr>
              <a:t>0.472</a:t>
            </a:r>
            <a:endParaRPr lang="en-US" sz="600" dirty="0"/>
          </a:p>
        </p:txBody>
      </p:sp>
      <p:sp>
        <p:nvSpPr>
          <p:cNvPr id="25" name="Shape 23"/>
          <p:cNvSpPr/>
          <p:nvPr/>
        </p:nvSpPr>
        <p:spPr>
          <a:xfrm>
            <a:off x="1837944" y="2480996"/>
            <a:ext cx="301752" cy="948004"/>
          </a:xfrm>
          <a:prstGeom prst="rect">
            <a:avLst/>
          </a:prstGeom>
          <a:solidFill>
            <a:srgbClr val="CBD5E1"/>
          </a:solidFill>
          <a:ln/>
        </p:spPr>
      </p:sp>
      <p:sp>
        <p:nvSpPr>
          <p:cNvPr id="26" name="Text 24"/>
          <p:cNvSpPr/>
          <p:nvPr/>
        </p:nvSpPr>
        <p:spPr>
          <a:xfrm>
            <a:off x="1792224" y="2343836"/>
            <a:ext cx="393192" cy="137160"/>
          </a:xfrm>
          <a:prstGeom prst="rect">
            <a:avLst/>
          </a:prstGeom>
          <a:noFill/>
          <a:ln/>
        </p:spPr>
        <p:txBody>
          <a:bodyPr wrap="square" lIns="0" tIns="0" rIns="0" bIns="0" rtlCol="0" anchor="ctr"/>
          <a:lstStyle/>
          <a:p>
            <a:pPr algn="ctr" indent="0" marL="0">
              <a:buNone/>
            </a:pPr>
            <a:r>
              <a:rPr lang="en-US" sz="600" dirty="0">
                <a:solidFill>
                  <a:srgbClr val="CBD5E1"/>
                </a:solidFill>
                <a:latin typeface="Calibri" pitchFamily="34" charset="0"/>
                <a:ea typeface="Calibri" pitchFamily="34" charset="-122"/>
                <a:cs typeface="Calibri" pitchFamily="34" charset="-120"/>
              </a:rPr>
              <a:t>0.377</a:t>
            </a:r>
            <a:endParaRPr lang="en-US" sz="600" dirty="0"/>
          </a:p>
        </p:txBody>
      </p:sp>
      <p:sp>
        <p:nvSpPr>
          <p:cNvPr id="27" name="Text 25"/>
          <p:cNvSpPr/>
          <p:nvPr/>
        </p:nvSpPr>
        <p:spPr>
          <a:xfrm>
            <a:off x="2560320" y="3447288"/>
            <a:ext cx="2011680" cy="201168"/>
          </a:xfrm>
          <a:prstGeom prst="rect">
            <a:avLst/>
          </a:prstGeom>
          <a:noFill/>
          <a:ln/>
        </p:spPr>
        <p:txBody>
          <a:bodyPr wrap="square" lIns="0" tIns="0" rIns="0" bIns="0" rtlCol="0" anchor="ctr"/>
          <a:lstStyle/>
          <a:p>
            <a:pPr algn="ctr" indent="0" marL="0">
              <a:buNone/>
            </a:pPr>
            <a:r>
              <a:rPr lang="en-US" sz="900" b="1" dirty="0">
                <a:solidFill>
                  <a:srgbClr val="475569"/>
                </a:solidFill>
                <a:latin typeface="Calibri" pitchFamily="34" charset="0"/>
                <a:ea typeface="Calibri" pitchFamily="34" charset="-122"/>
                <a:cs typeface="Calibri" pitchFamily="34" charset="-120"/>
              </a:rPr>
              <a:t>MEDICATION</a:t>
            </a:r>
            <a:endParaRPr lang="en-US" sz="900" dirty="0"/>
          </a:p>
        </p:txBody>
      </p:sp>
      <p:sp>
        <p:nvSpPr>
          <p:cNvPr id="28" name="Shape 26"/>
          <p:cNvSpPr/>
          <p:nvPr/>
        </p:nvSpPr>
        <p:spPr>
          <a:xfrm>
            <a:off x="2862072" y="1492758"/>
            <a:ext cx="301752" cy="1936242"/>
          </a:xfrm>
          <a:prstGeom prst="rect">
            <a:avLst/>
          </a:prstGeom>
          <a:solidFill>
            <a:srgbClr val="3B82F6"/>
          </a:solidFill>
          <a:ln/>
        </p:spPr>
      </p:sp>
      <p:sp>
        <p:nvSpPr>
          <p:cNvPr id="29" name="Text 27"/>
          <p:cNvSpPr/>
          <p:nvPr/>
        </p:nvSpPr>
        <p:spPr>
          <a:xfrm>
            <a:off x="2816352" y="1355598"/>
            <a:ext cx="393192" cy="137160"/>
          </a:xfrm>
          <a:prstGeom prst="rect">
            <a:avLst/>
          </a:prstGeom>
          <a:noFill/>
          <a:ln/>
        </p:spPr>
        <p:txBody>
          <a:bodyPr wrap="square" lIns="0" tIns="0" rIns="0" bIns="0" rtlCol="0" anchor="ctr"/>
          <a:lstStyle/>
          <a:p>
            <a:pPr algn="ctr" indent="0" marL="0">
              <a:buNone/>
            </a:pPr>
            <a:r>
              <a:rPr lang="en-US" sz="600" dirty="0">
                <a:solidFill>
                  <a:srgbClr val="3B82F6"/>
                </a:solidFill>
                <a:latin typeface="Calibri" pitchFamily="34" charset="0"/>
                <a:ea typeface="Calibri" pitchFamily="34" charset="-122"/>
                <a:cs typeface="Calibri" pitchFamily="34" charset="-120"/>
              </a:rPr>
              <a:t>0.770</a:t>
            </a:r>
            <a:endParaRPr lang="en-US" sz="600" dirty="0"/>
          </a:p>
        </p:txBody>
      </p:sp>
      <p:sp>
        <p:nvSpPr>
          <p:cNvPr id="30" name="Shape 28"/>
          <p:cNvSpPr/>
          <p:nvPr/>
        </p:nvSpPr>
        <p:spPr>
          <a:xfrm>
            <a:off x="3191256" y="2465908"/>
            <a:ext cx="301752" cy="963092"/>
          </a:xfrm>
          <a:prstGeom prst="rect">
            <a:avLst/>
          </a:prstGeom>
          <a:solidFill>
            <a:srgbClr val="64748B"/>
          </a:solidFill>
          <a:ln/>
        </p:spPr>
      </p:sp>
      <p:sp>
        <p:nvSpPr>
          <p:cNvPr id="31" name="Text 29"/>
          <p:cNvSpPr/>
          <p:nvPr/>
        </p:nvSpPr>
        <p:spPr>
          <a:xfrm>
            <a:off x="3145536" y="2328748"/>
            <a:ext cx="393192" cy="137160"/>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0.383</a:t>
            </a:r>
            <a:endParaRPr lang="en-US" sz="600" dirty="0"/>
          </a:p>
        </p:txBody>
      </p:sp>
      <p:sp>
        <p:nvSpPr>
          <p:cNvPr id="32" name="Shape 30"/>
          <p:cNvSpPr/>
          <p:nvPr/>
        </p:nvSpPr>
        <p:spPr>
          <a:xfrm>
            <a:off x="3520440" y="2116379"/>
            <a:ext cx="301752" cy="1312621"/>
          </a:xfrm>
          <a:prstGeom prst="rect">
            <a:avLst/>
          </a:prstGeom>
          <a:solidFill>
            <a:srgbClr val="94A3B8"/>
          </a:solidFill>
          <a:ln/>
        </p:spPr>
      </p:sp>
      <p:sp>
        <p:nvSpPr>
          <p:cNvPr id="33" name="Text 31"/>
          <p:cNvSpPr/>
          <p:nvPr/>
        </p:nvSpPr>
        <p:spPr>
          <a:xfrm>
            <a:off x="3474720" y="1979219"/>
            <a:ext cx="393192" cy="137160"/>
          </a:xfrm>
          <a:prstGeom prst="rect">
            <a:avLst/>
          </a:prstGeom>
          <a:noFill/>
          <a:ln/>
        </p:spPr>
        <p:txBody>
          <a:bodyPr wrap="square" lIns="0" tIns="0" rIns="0" bIns="0" rtlCol="0" anchor="ctr"/>
          <a:lstStyle/>
          <a:p>
            <a:pPr algn="ctr" indent="0" marL="0">
              <a:buNone/>
            </a:pPr>
            <a:r>
              <a:rPr lang="en-US" sz="600" dirty="0">
                <a:solidFill>
                  <a:srgbClr val="94A3B8"/>
                </a:solidFill>
                <a:latin typeface="Calibri" pitchFamily="34" charset="0"/>
                <a:ea typeface="Calibri" pitchFamily="34" charset="-122"/>
                <a:cs typeface="Calibri" pitchFamily="34" charset="-120"/>
              </a:rPr>
              <a:t>0.522</a:t>
            </a:r>
            <a:endParaRPr lang="en-US" sz="600" dirty="0"/>
          </a:p>
        </p:txBody>
      </p:sp>
      <p:sp>
        <p:nvSpPr>
          <p:cNvPr id="34" name="Shape 32"/>
          <p:cNvSpPr/>
          <p:nvPr/>
        </p:nvSpPr>
        <p:spPr>
          <a:xfrm>
            <a:off x="3849624" y="3410712"/>
            <a:ext cx="301752" cy="18288"/>
          </a:xfrm>
          <a:prstGeom prst="rect">
            <a:avLst/>
          </a:prstGeom>
          <a:solidFill>
            <a:srgbClr val="CBD5E1"/>
          </a:solidFill>
          <a:ln/>
        </p:spPr>
      </p:sp>
      <p:sp>
        <p:nvSpPr>
          <p:cNvPr id="35" name="Text 33"/>
          <p:cNvSpPr/>
          <p:nvPr/>
        </p:nvSpPr>
        <p:spPr>
          <a:xfrm>
            <a:off x="3803904" y="3273552"/>
            <a:ext cx="393192" cy="137160"/>
          </a:xfrm>
          <a:prstGeom prst="rect">
            <a:avLst/>
          </a:prstGeom>
          <a:noFill/>
          <a:ln/>
        </p:spPr>
        <p:txBody>
          <a:bodyPr wrap="square" lIns="0" tIns="0" rIns="0" bIns="0" rtlCol="0" anchor="ctr"/>
          <a:lstStyle/>
          <a:p>
            <a:pPr algn="ctr" indent="0" marL="0">
              <a:buNone/>
            </a:pPr>
            <a:r>
              <a:rPr lang="en-US" sz="600" dirty="0">
                <a:solidFill>
                  <a:srgbClr val="CBD5E1"/>
                </a:solidFill>
                <a:latin typeface="Calibri" pitchFamily="34" charset="0"/>
                <a:ea typeface="Calibri" pitchFamily="34" charset="-122"/>
                <a:cs typeface="Calibri" pitchFamily="34" charset="-120"/>
              </a:rPr>
              <a:t>0.007</a:t>
            </a:r>
            <a:endParaRPr lang="en-US" sz="600" dirty="0"/>
          </a:p>
        </p:txBody>
      </p:sp>
      <p:sp>
        <p:nvSpPr>
          <p:cNvPr id="36" name="Text 34"/>
          <p:cNvSpPr/>
          <p:nvPr/>
        </p:nvSpPr>
        <p:spPr>
          <a:xfrm>
            <a:off x="4572000" y="3447288"/>
            <a:ext cx="2011680" cy="201168"/>
          </a:xfrm>
          <a:prstGeom prst="rect">
            <a:avLst/>
          </a:prstGeom>
          <a:noFill/>
          <a:ln/>
        </p:spPr>
        <p:txBody>
          <a:bodyPr wrap="square" lIns="0" tIns="0" rIns="0" bIns="0" rtlCol="0" anchor="ctr"/>
          <a:lstStyle/>
          <a:p>
            <a:pPr algn="ctr" indent="0" marL="0">
              <a:buNone/>
            </a:pPr>
            <a:r>
              <a:rPr lang="en-US" sz="900" b="1" dirty="0">
                <a:solidFill>
                  <a:srgbClr val="475569"/>
                </a:solidFill>
                <a:latin typeface="Calibri" pitchFamily="34" charset="0"/>
                <a:ea typeface="Calibri" pitchFamily="34" charset="-122"/>
                <a:cs typeface="Calibri" pitchFamily="34" charset="-120"/>
              </a:rPr>
              <a:t>TEMPORAL</a:t>
            </a:r>
            <a:endParaRPr lang="en-US" sz="900" dirty="0"/>
          </a:p>
        </p:txBody>
      </p:sp>
      <p:sp>
        <p:nvSpPr>
          <p:cNvPr id="37" name="Shape 35"/>
          <p:cNvSpPr/>
          <p:nvPr/>
        </p:nvSpPr>
        <p:spPr>
          <a:xfrm>
            <a:off x="4873752" y="1615973"/>
            <a:ext cx="301752" cy="1813027"/>
          </a:xfrm>
          <a:prstGeom prst="rect">
            <a:avLst/>
          </a:prstGeom>
          <a:solidFill>
            <a:srgbClr val="3B82F6"/>
          </a:solidFill>
          <a:ln/>
        </p:spPr>
      </p:sp>
      <p:sp>
        <p:nvSpPr>
          <p:cNvPr id="38" name="Text 36"/>
          <p:cNvSpPr/>
          <p:nvPr/>
        </p:nvSpPr>
        <p:spPr>
          <a:xfrm>
            <a:off x="4828032" y="1478813"/>
            <a:ext cx="393192" cy="137160"/>
          </a:xfrm>
          <a:prstGeom prst="rect">
            <a:avLst/>
          </a:prstGeom>
          <a:noFill/>
          <a:ln/>
        </p:spPr>
        <p:txBody>
          <a:bodyPr wrap="square" lIns="0" tIns="0" rIns="0" bIns="0" rtlCol="0" anchor="ctr"/>
          <a:lstStyle/>
          <a:p>
            <a:pPr algn="ctr" indent="0" marL="0">
              <a:buNone/>
            </a:pPr>
            <a:r>
              <a:rPr lang="en-US" sz="600" dirty="0">
                <a:solidFill>
                  <a:srgbClr val="3B82F6"/>
                </a:solidFill>
                <a:latin typeface="Calibri" pitchFamily="34" charset="0"/>
                <a:ea typeface="Calibri" pitchFamily="34" charset="-122"/>
                <a:cs typeface="Calibri" pitchFamily="34" charset="-120"/>
              </a:rPr>
              <a:t>0.721</a:t>
            </a:r>
            <a:endParaRPr lang="en-US" sz="600" dirty="0"/>
          </a:p>
        </p:txBody>
      </p:sp>
      <p:sp>
        <p:nvSpPr>
          <p:cNvPr id="39" name="Shape 37"/>
          <p:cNvSpPr/>
          <p:nvPr/>
        </p:nvSpPr>
        <p:spPr>
          <a:xfrm>
            <a:off x="5202936" y="1520419"/>
            <a:ext cx="301752" cy="1908581"/>
          </a:xfrm>
          <a:prstGeom prst="rect">
            <a:avLst/>
          </a:prstGeom>
          <a:solidFill>
            <a:srgbClr val="64748B"/>
          </a:solidFill>
          <a:ln/>
        </p:spPr>
      </p:sp>
      <p:sp>
        <p:nvSpPr>
          <p:cNvPr id="40" name="Text 38"/>
          <p:cNvSpPr/>
          <p:nvPr/>
        </p:nvSpPr>
        <p:spPr>
          <a:xfrm>
            <a:off x="5157216" y="1383259"/>
            <a:ext cx="393192" cy="137160"/>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0.759</a:t>
            </a:r>
            <a:endParaRPr lang="en-US" sz="600" dirty="0"/>
          </a:p>
        </p:txBody>
      </p:sp>
      <p:sp>
        <p:nvSpPr>
          <p:cNvPr id="41" name="Shape 39"/>
          <p:cNvSpPr/>
          <p:nvPr/>
        </p:nvSpPr>
        <p:spPr>
          <a:xfrm>
            <a:off x="5532120" y="1703984"/>
            <a:ext cx="301752" cy="1725016"/>
          </a:xfrm>
          <a:prstGeom prst="rect">
            <a:avLst/>
          </a:prstGeom>
          <a:solidFill>
            <a:srgbClr val="94A3B8"/>
          </a:solidFill>
          <a:ln/>
        </p:spPr>
      </p:sp>
      <p:sp>
        <p:nvSpPr>
          <p:cNvPr id="42" name="Text 40"/>
          <p:cNvSpPr/>
          <p:nvPr/>
        </p:nvSpPr>
        <p:spPr>
          <a:xfrm>
            <a:off x="5486400" y="1566824"/>
            <a:ext cx="393192" cy="137160"/>
          </a:xfrm>
          <a:prstGeom prst="rect">
            <a:avLst/>
          </a:prstGeom>
          <a:noFill/>
          <a:ln/>
        </p:spPr>
        <p:txBody>
          <a:bodyPr wrap="square" lIns="0" tIns="0" rIns="0" bIns="0" rtlCol="0" anchor="ctr"/>
          <a:lstStyle/>
          <a:p>
            <a:pPr algn="ctr" indent="0" marL="0">
              <a:buNone/>
            </a:pPr>
            <a:r>
              <a:rPr lang="en-US" sz="600" dirty="0">
                <a:solidFill>
                  <a:srgbClr val="94A3B8"/>
                </a:solidFill>
                <a:latin typeface="Calibri" pitchFamily="34" charset="0"/>
                <a:ea typeface="Calibri" pitchFamily="34" charset="-122"/>
                <a:cs typeface="Calibri" pitchFamily="34" charset="-120"/>
              </a:rPr>
              <a:t>0.686</a:t>
            </a:r>
            <a:endParaRPr lang="en-US" sz="600" dirty="0"/>
          </a:p>
        </p:txBody>
      </p:sp>
      <p:sp>
        <p:nvSpPr>
          <p:cNvPr id="43" name="Shape 41"/>
          <p:cNvSpPr/>
          <p:nvPr/>
        </p:nvSpPr>
        <p:spPr>
          <a:xfrm>
            <a:off x="5861304" y="1769364"/>
            <a:ext cx="301752" cy="1659636"/>
          </a:xfrm>
          <a:prstGeom prst="rect">
            <a:avLst/>
          </a:prstGeom>
          <a:solidFill>
            <a:srgbClr val="CBD5E1"/>
          </a:solidFill>
          <a:ln/>
        </p:spPr>
      </p:sp>
      <p:sp>
        <p:nvSpPr>
          <p:cNvPr id="44" name="Text 42"/>
          <p:cNvSpPr/>
          <p:nvPr/>
        </p:nvSpPr>
        <p:spPr>
          <a:xfrm>
            <a:off x="5815584" y="1632204"/>
            <a:ext cx="393192" cy="137160"/>
          </a:xfrm>
          <a:prstGeom prst="rect">
            <a:avLst/>
          </a:prstGeom>
          <a:noFill/>
          <a:ln/>
        </p:spPr>
        <p:txBody>
          <a:bodyPr wrap="square" lIns="0" tIns="0" rIns="0" bIns="0" rtlCol="0" anchor="ctr"/>
          <a:lstStyle/>
          <a:p>
            <a:pPr algn="ctr" indent="0" marL="0">
              <a:buNone/>
            </a:pPr>
            <a:r>
              <a:rPr lang="en-US" sz="600" dirty="0">
                <a:solidFill>
                  <a:srgbClr val="CBD5E1"/>
                </a:solidFill>
                <a:latin typeface="Calibri" pitchFamily="34" charset="0"/>
                <a:ea typeface="Calibri" pitchFamily="34" charset="-122"/>
                <a:cs typeface="Calibri" pitchFamily="34" charset="-120"/>
              </a:rPr>
              <a:t>0.660</a:t>
            </a:r>
            <a:endParaRPr lang="en-US" sz="600" dirty="0"/>
          </a:p>
        </p:txBody>
      </p:sp>
      <p:sp>
        <p:nvSpPr>
          <p:cNvPr id="45" name="Text 43"/>
          <p:cNvSpPr/>
          <p:nvPr/>
        </p:nvSpPr>
        <p:spPr>
          <a:xfrm>
            <a:off x="6583680" y="3447288"/>
            <a:ext cx="2011680" cy="201168"/>
          </a:xfrm>
          <a:prstGeom prst="rect">
            <a:avLst/>
          </a:prstGeom>
          <a:noFill/>
          <a:ln/>
        </p:spPr>
        <p:txBody>
          <a:bodyPr wrap="square" lIns="0" tIns="0" rIns="0" bIns="0" rtlCol="0" anchor="ctr"/>
          <a:lstStyle/>
          <a:p>
            <a:pPr algn="ctr" indent="0" marL="0">
              <a:buNone/>
            </a:pPr>
            <a:r>
              <a:rPr lang="en-US" sz="900" b="1" dirty="0">
                <a:solidFill>
                  <a:srgbClr val="475569"/>
                </a:solidFill>
                <a:latin typeface="Calibri" pitchFamily="34" charset="0"/>
                <a:ea typeface="Calibri" pitchFamily="34" charset="-122"/>
                <a:cs typeface="Calibri" pitchFamily="34" charset="-120"/>
              </a:rPr>
              <a:t>SUMMARY</a:t>
            </a:r>
            <a:endParaRPr lang="en-US" sz="900" dirty="0"/>
          </a:p>
        </p:txBody>
      </p:sp>
      <p:sp>
        <p:nvSpPr>
          <p:cNvPr id="46" name="Shape 44"/>
          <p:cNvSpPr/>
          <p:nvPr/>
        </p:nvSpPr>
        <p:spPr>
          <a:xfrm>
            <a:off x="6885432" y="2045970"/>
            <a:ext cx="301752" cy="1383030"/>
          </a:xfrm>
          <a:prstGeom prst="rect">
            <a:avLst/>
          </a:prstGeom>
          <a:solidFill>
            <a:srgbClr val="3B82F6"/>
          </a:solidFill>
          <a:ln/>
        </p:spPr>
      </p:sp>
      <p:sp>
        <p:nvSpPr>
          <p:cNvPr id="47" name="Text 45"/>
          <p:cNvSpPr/>
          <p:nvPr/>
        </p:nvSpPr>
        <p:spPr>
          <a:xfrm>
            <a:off x="6839712" y="1908810"/>
            <a:ext cx="393192" cy="137160"/>
          </a:xfrm>
          <a:prstGeom prst="rect">
            <a:avLst/>
          </a:prstGeom>
          <a:noFill/>
          <a:ln/>
        </p:spPr>
        <p:txBody>
          <a:bodyPr wrap="square" lIns="0" tIns="0" rIns="0" bIns="0" rtlCol="0" anchor="ctr"/>
          <a:lstStyle/>
          <a:p>
            <a:pPr algn="ctr" indent="0" marL="0">
              <a:buNone/>
            </a:pPr>
            <a:r>
              <a:rPr lang="en-US" sz="600" dirty="0">
                <a:solidFill>
                  <a:srgbClr val="3B82F6"/>
                </a:solidFill>
                <a:latin typeface="Calibri" pitchFamily="34" charset="0"/>
                <a:ea typeface="Calibri" pitchFamily="34" charset="-122"/>
                <a:cs typeface="Calibri" pitchFamily="34" charset="-120"/>
              </a:rPr>
              <a:t>0.550</a:t>
            </a:r>
            <a:endParaRPr lang="en-US" sz="600" dirty="0"/>
          </a:p>
        </p:txBody>
      </p:sp>
      <p:sp>
        <p:nvSpPr>
          <p:cNvPr id="48" name="Shape 46"/>
          <p:cNvSpPr/>
          <p:nvPr/>
        </p:nvSpPr>
        <p:spPr>
          <a:xfrm>
            <a:off x="7214616" y="2106320"/>
            <a:ext cx="301752" cy="1322680"/>
          </a:xfrm>
          <a:prstGeom prst="rect">
            <a:avLst/>
          </a:prstGeom>
          <a:solidFill>
            <a:srgbClr val="64748B"/>
          </a:solidFill>
          <a:ln/>
        </p:spPr>
      </p:sp>
      <p:sp>
        <p:nvSpPr>
          <p:cNvPr id="49" name="Text 47"/>
          <p:cNvSpPr/>
          <p:nvPr/>
        </p:nvSpPr>
        <p:spPr>
          <a:xfrm>
            <a:off x="7168896" y="1969160"/>
            <a:ext cx="393192" cy="137160"/>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0.526</a:t>
            </a:r>
            <a:endParaRPr lang="en-US" sz="600" dirty="0"/>
          </a:p>
        </p:txBody>
      </p:sp>
      <p:sp>
        <p:nvSpPr>
          <p:cNvPr id="50" name="Shape 48"/>
          <p:cNvSpPr/>
          <p:nvPr/>
        </p:nvSpPr>
        <p:spPr>
          <a:xfrm>
            <a:off x="7543800" y="2724912"/>
            <a:ext cx="301752" cy="704088"/>
          </a:xfrm>
          <a:prstGeom prst="rect">
            <a:avLst/>
          </a:prstGeom>
          <a:solidFill>
            <a:srgbClr val="94A3B8"/>
          </a:solidFill>
          <a:ln/>
        </p:spPr>
      </p:sp>
      <p:sp>
        <p:nvSpPr>
          <p:cNvPr id="51" name="Text 49"/>
          <p:cNvSpPr/>
          <p:nvPr/>
        </p:nvSpPr>
        <p:spPr>
          <a:xfrm>
            <a:off x="7498080" y="2587752"/>
            <a:ext cx="393192" cy="137160"/>
          </a:xfrm>
          <a:prstGeom prst="rect">
            <a:avLst/>
          </a:prstGeom>
          <a:noFill/>
          <a:ln/>
        </p:spPr>
        <p:txBody>
          <a:bodyPr wrap="square" lIns="0" tIns="0" rIns="0" bIns="0" rtlCol="0" anchor="ctr"/>
          <a:lstStyle/>
          <a:p>
            <a:pPr algn="ctr" indent="0" marL="0">
              <a:buNone/>
            </a:pPr>
            <a:r>
              <a:rPr lang="en-US" sz="600" dirty="0">
                <a:solidFill>
                  <a:srgbClr val="94A3B8"/>
                </a:solidFill>
                <a:latin typeface="Calibri" pitchFamily="34" charset="0"/>
                <a:ea typeface="Calibri" pitchFamily="34" charset="-122"/>
                <a:cs typeface="Calibri" pitchFamily="34" charset="-120"/>
              </a:rPr>
              <a:t>0.280</a:t>
            </a:r>
            <a:endParaRPr lang="en-US" sz="600" dirty="0"/>
          </a:p>
        </p:txBody>
      </p:sp>
      <p:sp>
        <p:nvSpPr>
          <p:cNvPr id="52" name="Shape 50"/>
          <p:cNvSpPr/>
          <p:nvPr/>
        </p:nvSpPr>
        <p:spPr>
          <a:xfrm>
            <a:off x="7872984" y="3074441"/>
            <a:ext cx="301752" cy="354559"/>
          </a:xfrm>
          <a:prstGeom prst="rect">
            <a:avLst/>
          </a:prstGeom>
          <a:solidFill>
            <a:srgbClr val="CBD5E1"/>
          </a:solidFill>
          <a:ln/>
        </p:spPr>
      </p:sp>
      <p:sp>
        <p:nvSpPr>
          <p:cNvPr id="53" name="Text 51"/>
          <p:cNvSpPr/>
          <p:nvPr/>
        </p:nvSpPr>
        <p:spPr>
          <a:xfrm>
            <a:off x="7827264" y="2937281"/>
            <a:ext cx="393192" cy="137160"/>
          </a:xfrm>
          <a:prstGeom prst="rect">
            <a:avLst/>
          </a:prstGeom>
          <a:noFill/>
          <a:ln/>
        </p:spPr>
        <p:txBody>
          <a:bodyPr wrap="square" lIns="0" tIns="0" rIns="0" bIns="0" rtlCol="0" anchor="ctr"/>
          <a:lstStyle/>
          <a:p>
            <a:pPr algn="ctr" indent="0" marL="0">
              <a:buNone/>
            </a:pPr>
            <a:r>
              <a:rPr lang="en-US" sz="600" dirty="0">
                <a:solidFill>
                  <a:srgbClr val="CBD5E1"/>
                </a:solidFill>
                <a:latin typeface="Calibri" pitchFamily="34" charset="0"/>
                <a:ea typeface="Calibri" pitchFamily="34" charset="-122"/>
                <a:cs typeface="Calibri" pitchFamily="34" charset="-120"/>
              </a:rPr>
              <a:t>0.141</a:t>
            </a:r>
            <a:endParaRPr lang="en-US" sz="600" dirty="0"/>
          </a:p>
        </p:txBody>
      </p:sp>
      <p:sp>
        <p:nvSpPr>
          <p:cNvPr id="54" name="Shape 52"/>
          <p:cNvSpPr/>
          <p:nvPr/>
        </p:nvSpPr>
        <p:spPr>
          <a:xfrm>
            <a:off x="1920240" y="3685032"/>
            <a:ext cx="164592" cy="109728"/>
          </a:xfrm>
          <a:prstGeom prst="rect">
            <a:avLst/>
          </a:prstGeom>
          <a:solidFill>
            <a:srgbClr val="3B82F6"/>
          </a:solidFill>
          <a:ln/>
        </p:spPr>
      </p:sp>
      <p:sp>
        <p:nvSpPr>
          <p:cNvPr id="55" name="Text 53"/>
          <p:cNvSpPr/>
          <p:nvPr/>
        </p:nvSpPr>
        <p:spPr>
          <a:xfrm>
            <a:off x="2121408" y="3657600"/>
            <a:ext cx="1188720" cy="16459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Proposed</a:t>
            </a:r>
            <a:endParaRPr lang="en-US" sz="800" dirty="0"/>
          </a:p>
        </p:txBody>
      </p:sp>
      <p:sp>
        <p:nvSpPr>
          <p:cNvPr id="56" name="Shape 54"/>
          <p:cNvSpPr/>
          <p:nvPr/>
        </p:nvSpPr>
        <p:spPr>
          <a:xfrm>
            <a:off x="3474720" y="3685032"/>
            <a:ext cx="164592" cy="109728"/>
          </a:xfrm>
          <a:prstGeom prst="rect">
            <a:avLst/>
          </a:prstGeom>
          <a:solidFill>
            <a:srgbClr val="64748B"/>
          </a:solidFill>
          <a:ln/>
        </p:spPr>
      </p:sp>
      <p:sp>
        <p:nvSpPr>
          <p:cNvPr id="57" name="Text 55"/>
          <p:cNvSpPr/>
          <p:nvPr/>
        </p:nvSpPr>
        <p:spPr>
          <a:xfrm>
            <a:off x="3675888" y="3657600"/>
            <a:ext cx="1188720" cy="16459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Sonnet 4.5</a:t>
            </a:r>
            <a:endParaRPr lang="en-US" sz="800" dirty="0"/>
          </a:p>
        </p:txBody>
      </p:sp>
      <p:sp>
        <p:nvSpPr>
          <p:cNvPr id="58" name="Shape 56"/>
          <p:cNvSpPr/>
          <p:nvPr/>
        </p:nvSpPr>
        <p:spPr>
          <a:xfrm>
            <a:off x="5029200" y="3685032"/>
            <a:ext cx="164592" cy="109728"/>
          </a:xfrm>
          <a:prstGeom prst="rect">
            <a:avLst/>
          </a:prstGeom>
          <a:solidFill>
            <a:srgbClr val="94A3B8"/>
          </a:solidFill>
          <a:ln/>
        </p:spPr>
      </p:sp>
      <p:sp>
        <p:nvSpPr>
          <p:cNvPr id="59" name="Text 57"/>
          <p:cNvSpPr/>
          <p:nvPr/>
        </p:nvSpPr>
        <p:spPr>
          <a:xfrm>
            <a:off x="5230368" y="3657600"/>
            <a:ext cx="1188720" cy="16459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Haiku 3.5</a:t>
            </a:r>
            <a:endParaRPr lang="en-US" sz="800" dirty="0"/>
          </a:p>
        </p:txBody>
      </p:sp>
      <p:sp>
        <p:nvSpPr>
          <p:cNvPr id="60" name="Shape 58"/>
          <p:cNvSpPr/>
          <p:nvPr/>
        </p:nvSpPr>
        <p:spPr>
          <a:xfrm>
            <a:off x="6583680" y="3685032"/>
            <a:ext cx="164592" cy="109728"/>
          </a:xfrm>
          <a:prstGeom prst="rect">
            <a:avLst/>
          </a:prstGeom>
          <a:solidFill>
            <a:srgbClr val="CBD5E1"/>
          </a:solidFill>
          <a:ln/>
        </p:spPr>
      </p:sp>
      <p:sp>
        <p:nvSpPr>
          <p:cNvPr id="61" name="Text 59"/>
          <p:cNvSpPr/>
          <p:nvPr/>
        </p:nvSpPr>
        <p:spPr>
          <a:xfrm>
            <a:off x="6784848" y="3657600"/>
            <a:ext cx="1188720" cy="16459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GPT-5</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8046720" cy="914400"/>
        </p:xfrm>
        <a:graphic>
          <a:graphicData uri="http://schemas.openxmlformats.org/drawingml/2006/table">
            <a:tbl>
              <a:tblPr/>
              <a:tblGrid>
                <a:gridCol w="1188720"/>
                <a:gridCol w="1714500"/>
                <a:gridCol w="1714500"/>
                <a:gridCol w="1714500"/>
                <a:gridCol w="1714500"/>
              </a:tblGrid>
              <a:tr h="201168">
                <a:tc>
                  <a:txBody>
                    <a:bodyPr/>
                    <a:lstStyle/>
                    <a:p>
                      <a:pPr algn="ctr" indent="0" marL="0">
                        <a:buNone/>
                      </a:pP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FACTUAL</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MEDICATION</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TEMPORAL</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SUMMARY</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r>
              <a:tr h="20116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Proposed</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B82F6"/>
                    </a:solidFill>
                  </a:tcPr>
                </a:tc>
                <a:tc>
                  <a:txBody>
                    <a:bodyPr/>
                    <a:lstStyle/>
                    <a:p>
                      <a:pPr algn="ctr" indent="0" marL="0">
                        <a:buNone/>
                      </a:pPr>
                      <a:r>
                        <a:rPr lang="en-US" sz="900" b="1" dirty="0">
                          <a:solidFill>
                            <a:srgbClr val="3B82F6"/>
                          </a:solidFill>
                          <a:latin typeface="Calibri" pitchFamily="34" charset="0"/>
                          <a:ea typeface="Calibri" pitchFamily="34" charset="-122"/>
                          <a:cs typeface="Calibri" pitchFamily="34" charset="-120"/>
                        </a:rPr>
                        <a:t>0.607</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900" b="1" dirty="0">
                          <a:solidFill>
                            <a:srgbClr val="3B82F6"/>
                          </a:solidFill>
                          <a:latin typeface="Calibri" pitchFamily="34" charset="0"/>
                          <a:ea typeface="Calibri" pitchFamily="34" charset="-122"/>
                          <a:cs typeface="Calibri" pitchFamily="34" charset="-120"/>
                        </a:rPr>
                        <a:t>0.770</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900" b="1" dirty="0">
                          <a:solidFill>
                            <a:srgbClr val="3B82F6"/>
                          </a:solidFill>
                          <a:latin typeface="Calibri" pitchFamily="34" charset="0"/>
                          <a:ea typeface="Calibri" pitchFamily="34" charset="-122"/>
                          <a:cs typeface="Calibri" pitchFamily="34" charset="-120"/>
                        </a:rPr>
                        <a:t>0.721</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c>
                  <a:txBody>
                    <a:bodyPr/>
                    <a:lstStyle/>
                    <a:p>
                      <a:pPr algn="ctr" indent="0" marL="0">
                        <a:buNone/>
                      </a:pPr>
                      <a:r>
                        <a:rPr lang="en-US" sz="900" b="1" dirty="0">
                          <a:solidFill>
                            <a:srgbClr val="3B82F6"/>
                          </a:solidFill>
                          <a:latin typeface="Calibri" pitchFamily="34" charset="0"/>
                          <a:ea typeface="Calibri" pitchFamily="34" charset="-122"/>
                          <a:cs typeface="Calibri" pitchFamily="34" charset="-120"/>
                        </a:rPr>
                        <a:t>0.550</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2FF"/>
                    </a:solidFill>
                  </a:tcPr>
                </a:tc>
              </a:tr>
              <a:tr h="201168">
                <a:tc>
                  <a:txBody>
                    <a:bodyPr/>
                    <a:lstStyle/>
                    <a:p>
                      <a:pPr algn="ctr" indent="0" marL="0">
                        <a:buNone/>
                      </a:pPr>
                      <a:r>
                        <a:rPr lang="en-US" sz="900" b="1" dirty="0">
                          <a:solidFill>
                            <a:srgbClr val="64748B"/>
                          </a:solidFill>
                          <a:latin typeface="Calibri" pitchFamily="34" charset="0"/>
                          <a:ea typeface="Calibri" pitchFamily="34" charset="-122"/>
                          <a:cs typeface="Calibri" pitchFamily="34" charset="-120"/>
                        </a:rPr>
                        <a:t>Sonnet 4.5</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0.512</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0.383</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0.759</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0.526</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01168">
                <a:tc>
                  <a:txBody>
                    <a:bodyPr/>
                    <a:lstStyle/>
                    <a:p>
                      <a:pPr algn="ctr" indent="0" marL="0">
                        <a:buNone/>
                      </a:pPr>
                      <a:r>
                        <a:rPr lang="en-US" sz="900" b="1" dirty="0">
                          <a:solidFill>
                            <a:srgbClr val="94A3B8"/>
                          </a:solidFill>
                          <a:latin typeface="Calibri" pitchFamily="34" charset="0"/>
                          <a:ea typeface="Calibri" pitchFamily="34" charset="-122"/>
                          <a:cs typeface="Calibri" pitchFamily="34" charset="-120"/>
                        </a:rPr>
                        <a:t>Haiku 3.5</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0.472</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0.522</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0.686</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0.280</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01168">
                <a:tc>
                  <a:txBody>
                    <a:bodyPr/>
                    <a:lstStyle/>
                    <a:p>
                      <a:pPr algn="ctr" indent="0" marL="0">
                        <a:buNone/>
                      </a:pPr>
                      <a:r>
                        <a:rPr lang="en-US" sz="900" b="1" dirty="0">
                          <a:solidFill>
                            <a:srgbClr val="CBD5E1"/>
                          </a:solidFill>
                          <a:latin typeface="Calibri" pitchFamily="34" charset="0"/>
                          <a:ea typeface="Calibri" pitchFamily="34" charset="-122"/>
                          <a:cs typeface="Calibri" pitchFamily="34" charset="-120"/>
                        </a:rPr>
                        <a:t>GPT-5</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0.377</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0.007</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0.660</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0.141</a:t>
                      </a:r>
                      <a:endParaRPr lang="en-US" sz="9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3" name="Shape 60"/>
          <p:cNvSpPr/>
          <p:nvPr/>
        </p:nvSpPr>
        <p:spPr>
          <a:xfrm>
            <a:off x="548640" y="4754880"/>
            <a:ext cx="8046720" cy="320040"/>
          </a:xfrm>
          <a:prstGeom prst="rect">
            <a:avLst/>
          </a:prstGeom>
          <a:solidFill>
            <a:srgbClr val="FFF7ED"/>
          </a:solidFill>
          <a:ln/>
        </p:spPr>
      </p:sp>
      <p:sp>
        <p:nvSpPr>
          <p:cNvPr id="64" name="Shape 61"/>
          <p:cNvSpPr/>
          <p:nvPr/>
        </p:nvSpPr>
        <p:spPr>
          <a:xfrm>
            <a:off x="548640" y="4754880"/>
            <a:ext cx="64008" cy="320040"/>
          </a:xfrm>
          <a:prstGeom prst="rect">
            <a:avLst/>
          </a:prstGeom>
          <a:solidFill>
            <a:srgbClr val="F59E0B"/>
          </a:solidFill>
          <a:ln/>
        </p:spPr>
      </p:sp>
      <p:sp>
        <p:nvSpPr>
          <p:cNvPr id="65" name="Text 62"/>
          <p:cNvSpPr/>
          <p:nvPr/>
        </p:nvSpPr>
        <p:spPr>
          <a:xfrm>
            <a:off x="777240" y="4754880"/>
            <a:ext cx="75895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Temporal is the only category where a baseline (Sonnet 4.5 at 0.759) edges our solution (0.721).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Why Medication Is Our Biggest Win</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11</a:t>
            </a:r>
            <a:endParaRPr lang="en-US" sz="900" dirty="0"/>
          </a:p>
        </p:txBody>
      </p:sp>
      <p:sp>
        <p:nvSpPr>
          <p:cNvPr id="6" name="Shape 4"/>
          <p:cNvSpPr/>
          <p:nvPr/>
        </p:nvSpPr>
        <p:spPr>
          <a:xfrm>
            <a:off x="548640" y="1051560"/>
            <a:ext cx="4572000" cy="219456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731520" y="1143000"/>
            <a:ext cx="320040" cy="320040"/>
          </a:xfrm>
          <a:prstGeom prst="rect">
            <a:avLst/>
          </a:prstGeom>
        </p:spPr>
      </p:pic>
      <p:sp>
        <p:nvSpPr>
          <p:cNvPr id="8" name="Text 5"/>
          <p:cNvSpPr/>
          <p:nvPr/>
        </p:nvSpPr>
        <p:spPr>
          <a:xfrm>
            <a:off x="1143000" y="1143000"/>
            <a:ext cx="3657600" cy="320040"/>
          </a:xfrm>
          <a:prstGeom prst="rect">
            <a:avLst/>
          </a:prstGeom>
          <a:noFill/>
          <a:ln/>
        </p:spPr>
        <p:txBody>
          <a:bodyPr wrap="square" lIns="0" tIns="0" rIns="0" bIns="0" rtlCol="0" anchor="ctr"/>
          <a:lstStyle/>
          <a:p>
            <a:pPr indent="0" marL="0">
              <a:buNone/>
            </a:pPr>
            <a:r>
              <a:rPr lang="en-US" sz="1400" b="1" dirty="0">
                <a:solidFill>
                  <a:srgbClr val="0F1B3D"/>
                </a:solidFill>
                <a:latin typeface="Georgia" pitchFamily="34" charset="0"/>
                <a:ea typeface="Georgia" pitchFamily="34" charset="-122"/>
                <a:cs typeface="Georgia" pitchFamily="34" charset="-120"/>
              </a:rPr>
              <a:t>Root Cause Analysis</a:t>
            </a:r>
            <a:endParaRPr lang="en-US" sz="1400" dirty="0"/>
          </a:p>
        </p:txBody>
      </p:sp>
      <p:sp>
        <p:nvSpPr>
          <p:cNvPr id="9" name="Text 6"/>
          <p:cNvSpPr/>
          <p:nvPr/>
        </p:nvSpPr>
        <p:spPr>
          <a:xfrm>
            <a:off x="731520" y="1554480"/>
            <a:ext cx="4206240" cy="1600200"/>
          </a:xfrm>
          <a:prstGeom prst="rect">
            <a:avLst/>
          </a:prstGeom>
          <a:noFill/>
          <a:ln/>
        </p:spPr>
        <p:txBody>
          <a:bodyPr wrap="square" lIns="0" tIns="0" rIns="0" bIns="0" rtlCol="0" anchor="ctr"/>
          <a:lstStyle/>
          <a:p>
            <a:pPr marL="342900" indent="-342900">
              <a:lnSpc>
                <a:spcPct val="130000"/>
              </a:lnSpc>
              <a:buSzPct val="100000"/>
              <a:buChar char="•"/>
            </a:pPr>
            <a:r>
              <a:rPr lang="en-US" sz="1100" dirty="0">
                <a:solidFill>
                  <a:srgbClr val="475569"/>
                </a:solidFill>
                <a:latin typeface="Calibri" pitchFamily="34" charset="0"/>
                <a:ea typeface="Calibri" pitchFamily="34" charset="-122"/>
                <a:cs typeface="Calibri" pitchFamily="34" charset="-120"/>
              </a:rPr>
              <a:t>One-shot models see 10K tokens and can't filter current vs historical meds</a:t>
            </a:r>
            <a:endParaRPr lang="en-US" sz="1100" dirty="0"/>
          </a:p>
          <a:p>
            <a:pPr marL="342900" indent="-342900">
              <a:lnSpc>
                <a:spcPct val="130000"/>
              </a:lnSpc>
              <a:buSzPct val="100000"/>
              <a:buChar char="•"/>
            </a:pPr>
            <a:r>
              <a:rPr lang="en-US" sz="1100" dirty="0">
                <a:solidFill>
                  <a:srgbClr val="475569"/>
                </a:solidFill>
                <a:latin typeface="Calibri" pitchFamily="34" charset="0"/>
                <a:ea typeface="Calibri" pitchFamily="34" charset="-122"/>
                <a:cs typeface="Calibri" pitchFamily="34" charset="-120"/>
              </a:rPr>
              <a:t>Our retrieval pulls exact MedicationRequest chunks → focused evidence</a:t>
            </a:r>
            <a:endParaRPr lang="en-US" sz="1100" dirty="0"/>
          </a:p>
          <a:p>
            <a:pPr marL="342900" indent="-342900">
              <a:lnSpc>
                <a:spcPct val="130000"/>
              </a:lnSpc>
              <a:buSzPct val="100000"/>
              <a:buChar char="•"/>
            </a:pPr>
            <a:r>
              <a:rPr lang="en-US" sz="1100" dirty="0">
                <a:solidFill>
                  <a:srgbClr val="475569"/>
                </a:solidFill>
                <a:latin typeface="Calibri" pitchFamily="34" charset="0"/>
                <a:ea typeface="Calibri" pitchFamily="34" charset="-122"/>
                <a:cs typeface="Calibri" pitchFamily="34" charset="-120"/>
              </a:rPr>
              <a:t>MIMIC-IV marks medications [completed] → GPT-5 over-reasons and says "insufficient data"</a:t>
            </a:r>
            <a:endParaRPr lang="en-US" sz="1100" dirty="0"/>
          </a:p>
          <a:p>
            <a:pPr indent="0" marL="0">
              <a:lnSpc>
                <a:spcPct val="130000"/>
              </a:lnSpc>
              <a:buNone/>
            </a:pPr>
            <a:r>
              <a:rPr lang="en-US" sz="1100" b="1" i="1" dirty="0">
                <a:solidFill>
                  <a:srgbClr val="3B82F6"/>
                </a:solidFill>
                <a:latin typeface="Calibri" pitchFamily="34" charset="0"/>
                <a:ea typeface="Calibri" pitchFamily="34" charset="-122"/>
                <a:cs typeface="Calibri" pitchFamily="34" charset="-120"/>
              </a:rPr>
              <a:t>More capable ≠ more useful</a:t>
            </a:r>
            <a:endParaRPr lang="en-US" sz="1100" dirty="0"/>
          </a:p>
        </p:txBody>
      </p:sp>
      <p:sp>
        <p:nvSpPr>
          <p:cNvPr id="10" name="Shape 7"/>
          <p:cNvSpPr/>
          <p:nvPr/>
        </p:nvSpPr>
        <p:spPr>
          <a:xfrm>
            <a:off x="5394960" y="1051560"/>
            <a:ext cx="3200400" cy="219456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1" name="Text 8"/>
          <p:cNvSpPr/>
          <p:nvPr/>
        </p:nvSpPr>
        <p:spPr>
          <a:xfrm>
            <a:off x="5577840" y="1143000"/>
            <a:ext cx="2834640" cy="320040"/>
          </a:xfrm>
          <a:prstGeom prst="rect">
            <a:avLst/>
          </a:prstGeom>
          <a:noFill/>
          <a:ln/>
        </p:spPr>
        <p:txBody>
          <a:bodyPr wrap="square" lIns="0" tIns="0" rIns="0" bIns="0" rtlCol="0" anchor="ctr"/>
          <a:lstStyle/>
          <a:p>
            <a:pPr indent="0" marL="0">
              <a:buNone/>
            </a:pPr>
            <a:r>
              <a:rPr lang="en-US" sz="1300" b="1" dirty="0">
                <a:solidFill>
                  <a:srgbClr val="0F1B3D"/>
                </a:solidFill>
                <a:latin typeface="Georgia" pitchFamily="34" charset="0"/>
                <a:ea typeface="Georgia" pitchFamily="34" charset="-122"/>
                <a:cs typeface="Georgia" pitchFamily="34" charset="-120"/>
              </a:rPr>
              <a:t>Abstention Rates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77840" y="1508760"/>
          <a:ext cx="2834640" cy="914400"/>
        </p:xfrm>
        <a:graphic>
          <a:graphicData uri="http://schemas.openxmlformats.org/drawingml/2006/table">
            <a:tbl>
              <a:tblPr/>
              <a:tblGrid>
                <a:gridCol w="1005840"/>
                <a:gridCol w="822960"/>
                <a:gridCol w="8229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Abstain</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Med F1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r>
              <a:tr h="256032">
                <a:tc>
                  <a:txBody>
                    <a:bodyPr/>
                    <a:lstStyle/>
                    <a:p>
                      <a:pPr algn="l" indent="0" marL="0">
                        <a:buNone/>
                      </a:pPr>
                      <a:r>
                        <a:rPr lang="en-US" sz="900" b="1" dirty="0">
                          <a:solidFill>
                            <a:srgbClr val="0F1B3D"/>
                          </a:solidFill>
                          <a:latin typeface="Calibri" pitchFamily="34" charset="0"/>
                          <a:ea typeface="Calibri" pitchFamily="34" charset="-122"/>
                          <a:cs typeface="Calibri" pitchFamily="34" charset="-120"/>
                        </a:rPr>
                        <a:t>GPT-5</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0.007</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0F1B3D"/>
                          </a:solidFill>
                          <a:latin typeface="Calibri" pitchFamily="34" charset="0"/>
                          <a:ea typeface="Calibri" pitchFamily="34" charset="-122"/>
                          <a:cs typeface="Calibri" pitchFamily="34" charset="-120"/>
                        </a:rPr>
                        <a:t>GLM 4.6</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37%</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0.081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0F1B3D"/>
                          </a:solidFill>
                          <a:latin typeface="Calibri" pitchFamily="34" charset="0"/>
                          <a:ea typeface="Calibri" pitchFamily="34" charset="-122"/>
                          <a:cs typeface="Calibri" pitchFamily="34" charset="-120"/>
                        </a:rPr>
                        <a:t>Gemini 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33%</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0.047</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0F1B3D"/>
                          </a:solidFill>
                          <a:latin typeface="Calibri" pitchFamily="34" charset="0"/>
                          <a:ea typeface="Calibri" pitchFamily="34" charset="-122"/>
                          <a:cs typeface="Calibri" pitchFamily="34" charset="-120"/>
                        </a:rPr>
                        <a:t>Haiku 3.5</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0.522</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3" name="Shape 9"/>
          <p:cNvSpPr/>
          <p:nvPr/>
        </p:nvSpPr>
        <p:spPr>
          <a:xfrm>
            <a:off x="548640" y="3474720"/>
            <a:ext cx="8046720" cy="777240"/>
          </a:xfrm>
          <a:prstGeom prst="rect">
            <a:avLst/>
          </a:prstGeom>
          <a:solidFill>
            <a:srgbClr val="0F1B3D"/>
          </a:solidFill>
          <a:ln/>
        </p:spPr>
      </p:sp>
      <p:pic>
        <p:nvPicPr>
          <p:cNvPr id="14" name="Image 1" descr="preencoded.png">    </p:cNvPr>
          <p:cNvPicPr>
            <a:picLocks noChangeAspect="1"/>
          </p:cNvPicPr>
          <p:nvPr/>
        </p:nvPicPr>
        <p:blipFill>
          <a:blip r:embed="rId2"/>
          <a:stretch>
            <a:fillRect/>
          </a:stretch>
        </p:blipFill>
        <p:spPr>
          <a:xfrm>
            <a:off x="731520" y="3611880"/>
            <a:ext cx="320040" cy="320040"/>
          </a:xfrm>
          <a:prstGeom prst="rect">
            <a:avLst/>
          </a:prstGeom>
        </p:spPr>
      </p:pic>
      <p:sp>
        <p:nvSpPr>
          <p:cNvPr id="15" name="Text 10"/>
          <p:cNvSpPr/>
          <p:nvPr/>
        </p:nvSpPr>
        <p:spPr>
          <a:xfrm>
            <a:off x="1188720" y="3520440"/>
            <a:ext cx="722376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"More capable ≠ more useful" — bigger models over-reason and refuse to answer.</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Our focused retrieval gives the model exactly what it needs.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Precision vs Recall Tradeoff</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11</a:t>
            </a:r>
            <a:endParaRPr lang="en-US" sz="900" dirty="0"/>
          </a:p>
        </p:txBody>
      </p:sp>
      <p:sp>
        <p:nvSpPr>
          <p:cNvPr id="6" name="Shape 4"/>
          <p:cNvSpPr/>
          <p:nvPr/>
        </p:nvSpPr>
        <p:spPr>
          <a:xfrm>
            <a:off x="548640" y="1005840"/>
            <a:ext cx="4846320" cy="3108960"/>
          </a:xfrm>
          <a:prstGeom prst="rect">
            <a:avLst/>
          </a:prstGeom>
          <a:solidFill>
            <a:srgbClr val="FFFFFF"/>
          </a:solidFill>
          <a:ln w="6350">
            <a:solidFill>
              <a:srgbClr val="E2E8F0"/>
            </a:solidFill>
            <a:prstDash val="solid"/>
          </a:ln>
        </p:spPr>
      </p:sp>
      <p:sp>
        <p:nvSpPr>
          <p:cNvPr id="7" name="Text 5"/>
          <p:cNvSpPr/>
          <p:nvPr/>
        </p:nvSpPr>
        <p:spPr>
          <a:xfrm>
            <a:off x="1920240" y="4160520"/>
            <a:ext cx="2286000" cy="274320"/>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Precision →</a:t>
            </a:r>
            <a:endParaRPr lang="en-US" sz="1000" dirty="0"/>
          </a:p>
        </p:txBody>
      </p:sp>
      <p:sp>
        <p:nvSpPr>
          <p:cNvPr id="8" name="Text 6"/>
          <p:cNvSpPr/>
          <p:nvPr/>
        </p:nvSpPr>
        <p:spPr>
          <a:xfrm rot="16200000">
            <a:off x="-45720" y="1737360"/>
            <a:ext cx="1371600" cy="274320"/>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Recall →</a:t>
            </a:r>
            <a:endParaRPr lang="en-US" sz="1000" dirty="0"/>
          </a:p>
        </p:txBody>
      </p:sp>
      <p:sp>
        <p:nvSpPr>
          <p:cNvPr id="9" name="Shape 7"/>
          <p:cNvSpPr/>
          <p:nvPr/>
        </p:nvSpPr>
        <p:spPr>
          <a:xfrm>
            <a:off x="548640" y="1005840"/>
            <a:ext cx="0" cy="3108960"/>
          </a:xfrm>
          <a:prstGeom prst="rect">
            <a:avLst/>
          </a:prstGeom>
          <a:noFill/>
          <a:ln w="3810">
            <a:solidFill>
              <a:srgbClr val="E2E8F0"/>
            </a:solidFill>
            <a:prstDash val="dash"/>
          </a:ln>
        </p:spPr>
      </p:sp>
      <p:sp>
        <p:nvSpPr>
          <p:cNvPr id="10" name="Text 8"/>
          <p:cNvSpPr/>
          <p:nvPr/>
        </p:nvSpPr>
        <p:spPr>
          <a:xfrm>
            <a:off x="32004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0.4</a:t>
            </a:r>
            <a:endParaRPr lang="en-US" sz="800" dirty="0"/>
          </a:p>
        </p:txBody>
      </p:sp>
      <p:sp>
        <p:nvSpPr>
          <p:cNvPr id="11" name="Shape 9"/>
          <p:cNvSpPr/>
          <p:nvPr/>
        </p:nvSpPr>
        <p:spPr>
          <a:xfrm>
            <a:off x="1356360" y="1005840"/>
            <a:ext cx="0" cy="3108960"/>
          </a:xfrm>
          <a:prstGeom prst="rect">
            <a:avLst/>
          </a:prstGeom>
          <a:noFill/>
          <a:ln w="3810">
            <a:solidFill>
              <a:srgbClr val="E2E8F0"/>
            </a:solidFill>
            <a:prstDash val="dash"/>
          </a:ln>
        </p:spPr>
      </p:sp>
      <p:sp>
        <p:nvSpPr>
          <p:cNvPr id="12" name="Text 10"/>
          <p:cNvSpPr/>
          <p:nvPr/>
        </p:nvSpPr>
        <p:spPr>
          <a:xfrm>
            <a:off x="112776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0.5</a:t>
            </a:r>
            <a:endParaRPr lang="en-US" sz="800" dirty="0"/>
          </a:p>
        </p:txBody>
      </p:sp>
      <p:sp>
        <p:nvSpPr>
          <p:cNvPr id="13" name="Shape 11"/>
          <p:cNvSpPr/>
          <p:nvPr/>
        </p:nvSpPr>
        <p:spPr>
          <a:xfrm>
            <a:off x="2164080" y="1005840"/>
            <a:ext cx="0" cy="3108960"/>
          </a:xfrm>
          <a:prstGeom prst="rect">
            <a:avLst/>
          </a:prstGeom>
          <a:noFill/>
          <a:ln w="3810">
            <a:solidFill>
              <a:srgbClr val="E2E8F0"/>
            </a:solidFill>
            <a:prstDash val="dash"/>
          </a:ln>
        </p:spPr>
      </p:sp>
      <p:sp>
        <p:nvSpPr>
          <p:cNvPr id="14" name="Text 12"/>
          <p:cNvSpPr/>
          <p:nvPr/>
        </p:nvSpPr>
        <p:spPr>
          <a:xfrm>
            <a:off x="193548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0.6</a:t>
            </a:r>
            <a:endParaRPr lang="en-US" sz="800" dirty="0"/>
          </a:p>
        </p:txBody>
      </p:sp>
      <p:sp>
        <p:nvSpPr>
          <p:cNvPr id="15" name="Shape 13"/>
          <p:cNvSpPr/>
          <p:nvPr/>
        </p:nvSpPr>
        <p:spPr>
          <a:xfrm>
            <a:off x="2971800" y="1005840"/>
            <a:ext cx="0" cy="3108960"/>
          </a:xfrm>
          <a:prstGeom prst="rect">
            <a:avLst/>
          </a:prstGeom>
          <a:noFill/>
          <a:ln w="3810">
            <a:solidFill>
              <a:srgbClr val="E2E8F0"/>
            </a:solidFill>
            <a:prstDash val="dash"/>
          </a:ln>
        </p:spPr>
      </p:sp>
      <p:sp>
        <p:nvSpPr>
          <p:cNvPr id="16" name="Text 14"/>
          <p:cNvSpPr/>
          <p:nvPr/>
        </p:nvSpPr>
        <p:spPr>
          <a:xfrm>
            <a:off x="274320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0.7</a:t>
            </a:r>
            <a:endParaRPr lang="en-US" sz="800" dirty="0"/>
          </a:p>
        </p:txBody>
      </p:sp>
      <p:sp>
        <p:nvSpPr>
          <p:cNvPr id="17" name="Shape 15"/>
          <p:cNvSpPr/>
          <p:nvPr/>
        </p:nvSpPr>
        <p:spPr>
          <a:xfrm>
            <a:off x="3779520" y="1005840"/>
            <a:ext cx="0" cy="3108960"/>
          </a:xfrm>
          <a:prstGeom prst="rect">
            <a:avLst/>
          </a:prstGeom>
          <a:noFill/>
          <a:ln w="3810">
            <a:solidFill>
              <a:srgbClr val="E2E8F0"/>
            </a:solidFill>
            <a:prstDash val="dash"/>
          </a:ln>
        </p:spPr>
      </p:sp>
      <p:sp>
        <p:nvSpPr>
          <p:cNvPr id="18" name="Text 16"/>
          <p:cNvSpPr/>
          <p:nvPr/>
        </p:nvSpPr>
        <p:spPr>
          <a:xfrm>
            <a:off x="355092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0.8</a:t>
            </a:r>
            <a:endParaRPr lang="en-US" sz="800" dirty="0"/>
          </a:p>
        </p:txBody>
      </p:sp>
      <p:sp>
        <p:nvSpPr>
          <p:cNvPr id="19" name="Shape 17"/>
          <p:cNvSpPr/>
          <p:nvPr/>
        </p:nvSpPr>
        <p:spPr>
          <a:xfrm>
            <a:off x="4587240" y="1005840"/>
            <a:ext cx="0" cy="3108960"/>
          </a:xfrm>
          <a:prstGeom prst="rect">
            <a:avLst/>
          </a:prstGeom>
          <a:noFill/>
          <a:ln w="3810">
            <a:solidFill>
              <a:srgbClr val="E2E8F0"/>
            </a:solidFill>
            <a:prstDash val="dash"/>
          </a:ln>
        </p:spPr>
      </p:sp>
      <p:sp>
        <p:nvSpPr>
          <p:cNvPr id="20" name="Text 18"/>
          <p:cNvSpPr/>
          <p:nvPr/>
        </p:nvSpPr>
        <p:spPr>
          <a:xfrm>
            <a:off x="435864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0.9</a:t>
            </a:r>
            <a:endParaRPr lang="en-US" sz="800" dirty="0"/>
          </a:p>
        </p:txBody>
      </p:sp>
      <p:sp>
        <p:nvSpPr>
          <p:cNvPr id="21" name="Shape 19"/>
          <p:cNvSpPr/>
          <p:nvPr/>
        </p:nvSpPr>
        <p:spPr>
          <a:xfrm>
            <a:off x="5394960" y="1005840"/>
            <a:ext cx="0" cy="3108960"/>
          </a:xfrm>
          <a:prstGeom prst="rect">
            <a:avLst/>
          </a:prstGeom>
          <a:noFill/>
          <a:ln w="3810">
            <a:solidFill>
              <a:srgbClr val="E2E8F0"/>
            </a:solidFill>
            <a:prstDash val="dash"/>
          </a:ln>
        </p:spPr>
      </p:sp>
      <p:sp>
        <p:nvSpPr>
          <p:cNvPr id="22" name="Text 20"/>
          <p:cNvSpPr/>
          <p:nvPr/>
        </p:nvSpPr>
        <p:spPr>
          <a:xfrm>
            <a:off x="5166360" y="4114800"/>
            <a:ext cx="457200" cy="22860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1.0</a:t>
            </a:r>
            <a:endParaRPr lang="en-US" sz="800" dirty="0"/>
          </a:p>
        </p:txBody>
      </p:sp>
      <p:sp>
        <p:nvSpPr>
          <p:cNvPr id="23" name="Shape 21"/>
          <p:cNvSpPr/>
          <p:nvPr/>
        </p:nvSpPr>
        <p:spPr>
          <a:xfrm>
            <a:off x="548640" y="4114800"/>
            <a:ext cx="4846320" cy="0"/>
          </a:xfrm>
          <a:prstGeom prst="rect">
            <a:avLst/>
          </a:prstGeom>
          <a:noFill/>
          <a:ln w="3810">
            <a:solidFill>
              <a:srgbClr val="E2E8F0"/>
            </a:solidFill>
            <a:prstDash val="dash"/>
          </a:ln>
        </p:spPr>
      </p:sp>
      <p:sp>
        <p:nvSpPr>
          <p:cNvPr id="24" name="Text 22"/>
          <p:cNvSpPr/>
          <p:nvPr/>
        </p:nvSpPr>
        <p:spPr>
          <a:xfrm>
            <a:off x="182880" y="4005072"/>
            <a:ext cx="320040" cy="219456"/>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0.1</a:t>
            </a:r>
            <a:endParaRPr lang="en-US" sz="800" dirty="0"/>
          </a:p>
        </p:txBody>
      </p:sp>
      <p:sp>
        <p:nvSpPr>
          <p:cNvPr id="25" name="Shape 23"/>
          <p:cNvSpPr/>
          <p:nvPr/>
        </p:nvSpPr>
        <p:spPr>
          <a:xfrm>
            <a:off x="548640" y="3549535"/>
            <a:ext cx="4846320" cy="0"/>
          </a:xfrm>
          <a:prstGeom prst="rect">
            <a:avLst/>
          </a:prstGeom>
          <a:noFill/>
          <a:ln w="3810">
            <a:solidFill>
              <a:srgbClr val="E2E8F0"/>
            </a:solidFill>
            <a:prstDash val="dash"/>
          </a:ln>
        </p:spPr>
      </p:sp>
      <p:sp>
        <p:nvSpPr>
          <p:cNvPr id="26" name="Text 24"/>
          <p:cNvSpPr/>
          <p:nvPr/>
        </p:nvSpPr>
        <p:spPr>
          <a:xfrm>
            <a:off x="182880" y="3439807"/>
            <a:ext cx="320040" cy="219456"/>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0.2</a:t>
            </a:r>
            <a:endParaRPr lang="en-US" sz="800" dirty="0"/>
          </a:p>
        </p:txBody>
      </p:sp>
      <p:sp>
        <p:nvSpPr>
          <p:cNvPr id="27" name="Shape 25"/>
          <p:cNvSpPr/>
          <p:nvPr/>
        </p:nvSpPr>
        <p:spPr>
          <a:xfrm>
            <a:off x="548640" y="2984269"/>
            <a:ext cx="4846320" cy="0"/>
          </a:xfrm>
          <a:prstGeom prst="rect">
            <a:avLst/>
          </a:prstGeom>
          <a:noFill/>
          <a:ln w="3810">
            <a:solidFill>
              <a:srgbClr val="E2E8F0"/>
            </a:solidFill>
            <a:prstDash val="dash"/>
          </a:ln>
        </p:spPr>
      </p:sp>
      <p:sp>
        <p:nvSpPr>
          <p:cNvPr id="28" name="Text 26"/>
          <p:cNvSpPr/>
          <p:nvPr/>
        </p:nvSpPr>
        <p:spPr>
          <a:xfrm>
            <a:off x="182880" y="2874541"/>
            <a:ext cx="320040" cy="219456"/>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0.3</a:t>
            </a:r>
            <a:endParaRPr lang="en-US" sz="800" dirty="0"/>
          </a:p>
        </p:txBody>
      </p:sp>
      <p:sp>
        <p:nvSpPr>
          <p:cNvPr id="29" name="Shape 27"/>
          <p:cNvSpPr/>
          <p:nvPr/>
        </p:nvSpPr>
        <p:spPr>
          <a:xfrm>
            <a:off x="548640" y="2419004"/>
            <a:ext cx="4846320" cy="0"/>
          </a:xfrm>
          <a:prstGeom prst="rect">
            <a:avLst/>
          </a:prstGeom>
          <a:noFill/>
          <a:ln w="3810">
            <a:solidFill>
              <a:srgbClr val="E2E8F0"/>
            </a:solidFill>
            <a:prstDash val="dash"/>
          </a:ln>
        </p:spPr>
      </p:sp>
      <p:sp>
        <p:nvSpPr>
          <p:cNvPr id="30" name="Text 28"/>
          <p:cNvSpPr/>
          <p:nvPr/>
        </p:nvSpPr>
        <p:spPr>
          <a:xfrm>
            <a:off x="182880" y="2309276"/>
            <a:ext cx="320040" cy="219456"/>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0.4</a:t>
            </a:r>
            <a:endParaRPr lang="en-US" sz="800" dirty="0"/>
          </a:p>
        </p:txBody>
      </p:sp>
      <p:sp>
        <p:nvSpPr>
          <p:cNvPr id="31" name="Shape 29"/>
          <p:cNvSpPr/>
          <p:nvPr/>
        </p:nvSpPr>
        <p:spPr>
          <a:xfrm>
            <a:off x="548640" y="1853738"/>
            <a:ext cx="4846320" cy="0"/>
          </a:xfrm>
          <a:prstGeom prst="rect">
            <a:avLst/>
          </a:prstGeom>
          <a:noFill/>
          <a:ln w="3810">
            <a:solidFill>
              <a:srgbClr val="E2E8F0"/>
            </a:solidFill>
            <a:prstDash val="dash"/>
          </a:ln>
        </p:spPr>
      </p:sp>
      <p:sp>
        <p:nvSpPr>
          <p:cNvPr id="32" name="Text 30"/>
          <p:cNvSpPr/>
          <p:nvPr/>
        </p:nvSpPr>
        <p:spPr>
          <a:xfrm>
            <a:off x="182880" y="1744010"/>
            <a:ext cx="320040" cy="219456"/>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0.5</a:t>
            </a:r>
            <a:endParaRPr lang="en-US" sz="800" dirty="0"/>
          </a:p>
        </p:txBody>
      </p:sp>
      <p:sp>
        <p:nvSpPr>
          <p:cNvPr id="33" name="Shape 31"/>
          <p:cNvSpPr/>
          <p:nvPr/>
        </p:nvSpPr>
        <p:spPr>
          <a:xfrm>
            <a:off x="548640" y="1288473"/>
            <a:ext cx="4846320" cy="0"/>
          </a:xfrm>
          <a:prstGeom prst="rect">
            <a:avLst/>
          </a:prstGeom>
          <a:noFill/>
          <a:ln w="3810">
            <a:solidFill>
              <a:srgbClr val="E2E8F0"/>
            </a:solidFill>
            <a:prstDash val="dash"/>
          </a:ln>
        </p:spPr>
      </p:sp>
      <p:sp>
        <p:nvSpPr>
          <p:cNvPr id="34" name="Text 32"/>
          <p:cNvSpPr/>
          <p:nvPr/>
        </p:nvSpPr>
        <p:spPr>
          <a:xfrm>
            <a:off x="182880" y="1178745"/>
            <a:ext cx="320040" cy="219456"/>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0.6</a:t>
            </a:r>
            <a:endParaRPr lang="en-US" sz="800" dirty="0"/>
          </a:p>
        </p:txBody>
      </p:sp>
      <p:sp>
        <p:nvSpPr>
          <p:cNvPr id="35" name="Shape 33"/>
          <p:cNvSpPr/>
          <p:nvPr/>
        </p:nvSpPr>
        <p:spPr>
          <a:xfrm>
            <a:off x="4055364" y="1414826"/>
            <a:ext cx="256032" cy="256032"/>
          </a:xfrm>
          <a:prstGeom prst="oval">
            <a:avLst/>
          </a:prstGeom>
          <a:solidFill>
            <a:srgbClr val="3B82F6"/>
          </a:solidFill>
          <a:ln/>
          <a:effectLst>
            <a:outerShdw sx="100000" sy="100000" kx="0" ky="0" algn="bl" rotWithShape="0" blurRad="76200" dist="25400" dir="8100000">
              <a:srgbClr val="000000">
                <a:alpha val="15000"/>
              </a:srgbClr>
            </a:outerShdw>
          </a:effectLst>
        </p:spPr>
      </p:sp>
      <p:sp>
        <p:nvSpPr>
          <p:cNvPr id="36" name="Text 34"/>
          <p:cNvSpPr/>
          <p:nvPr/>
        </p:nvSpPr>
        <p:spPr>
          <a:xfrm>
            <a:off x="4347972" y="1341674"/>
            <a:ext cx="1005840" cy="201168"/>
          </a:xfrm>
          <a:prstGeom prst="rect">
            <a:avLst/>
          </a:prstGeom>
          <a:noFill/>
          <a:ln/>
        </p:spPr>
        <p:txBody>
          <a:bodyPr wrap="square" lIns="0" tIns="0" rIns="0" bIns="0" rtlCol="0" anchor="ctr"/>
          <a:lstStyle/>
          <a:p>
            <a:pPr indent="0" marL="0">
              <a:buNone/>
            </a:pPr>
            <a:r>
              <a:rPr lang="en-US" sz="800" b="1" dirty="0">
                <a:solidFill>
                  <a:srgbClr val="3B82F6"/>
                </a:solidFill>
                <a:latin typeface="Calibri" pitchFamily="34" charset="0"/>
                <a:ea typeface="Calibri" pitchFamily="34" charset="-122"/>
                <a:cs typeface="Calibri" pitchFamily="34" charset="-120"/>
              </a:rPr>
              <a:t>Proposed</a:t>
            </a:r>
            <a:endParaRPr lang="en-US" sz="800" dirty="0"/>
          </a:p>
        </p:txBody>
      </p:sp>
      <p:sp>
        <p:nvSpPr>
          <p:cNvPr id="37" name="Shape 35"/>
          <p:cNvSpPr/>
          <p:nvPr/>
        </p:nvSpPr>
        <p:spPr>
          <a:xfrm>
            <a:off x="3380080" y="2041440"/>
            <a:ext cx="201168" cy="201168"/>
          </a:xfrm>
          <a:prstGeom prst="oval">
            <a:avLst/>
          </a:prstGeom>
          <a:solidFill>
            <a:srgbClr val="64748B"/>
          </a:solidFill>
          <a:ln/>
        </p:spPr>
      </p:sp>
      <p:sp>
        <p:nvSpPr>
          <p:cNvPr id="38" name="Text 36"/>
          <p:cNvSpPr/>
          <p:nvPr/>
        </p:nvSpPr>
        <p:spPr>
          <a:xfrm>
            <a:off x="3608680" y="1885992"/>
            <a:ext cx="1005840"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Sonnet 4.5</a:t>
            </a:r>
            <a:endParaRPr lang="en-US" sz="800" dirty="0"/>
          </a:p>
        </p:txBody>
      </p:sp>
      <p:sp>
        <p:nvSpPr>
          <p:cNvPr id="39" name="Shape 37"/>
          <p:cNvSpPr/>
          <p:nvPr/>
        </p:nvSpPr>
        <p:spPr>
          <a:xfrm>
            <a:off x="3646627" y="2335378"/>
            <a:ext cx="201168" cy="201168"/>
          </a:xfrm>
          <a:prstGeom prst="oval">
            <a:avLst/>
          </a:prstGeom>
          <a:solidFill>
            <a:srgbClr val="64748B"/>
          </a:solidFill>
          <a:ln/>
        </p:spPr>
      </p:sp>
      <p:sp>
        <p:nvSpPr>
          <p:cNvPr id="40" name="Text 38"/>
          <p:cNvSpPr/>
          <p:nvPr/>
        </p:nvSpPr>
        <p:spPr>
          <a:xfrm>
            <a:off x="3875227" y="2563978"/>
            <a:ext cx="1005840"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Haiku 3.5</a:t>
            </a:r>
            <a:endParaRPr lang="en-US" sz="800" dirty="0"/>
          </a:p>
        </p:txBody>
      </p:sp>
      <p:sp>
        <p:nvSpPr>
          <p:cNvPr id="41" name="Shape 39"/>
          <p:cNvSpPr/>
          <p:nvPr/>
        </p:nvSpPr>
        <p:spPr>
          <a:xfrm>
            <a:off x="1708099" y="2991086"/>
            <a:ext cx="201168" cy="201168"/>
          </a:xfrm>
          <a:prstGeom prst="oval">
            <a:avLst/>
          </a:prstGeom>
          <a:solidFill>
            <a:srgbClr val="94A3B8"/>
          </a:solidFill>
          <a:ln/>
        </p:spPr>
      </p:sp>
      <p:sp>
        <p:nvSpPr>
          <p:cNvPr id="42" name="Text 40"/>
          <p:cNvSpPr/>
          <p:nvPr/>
        </p:nvSpPr>
        <p:spPr>
          <a:xfrm>
            <a:off x="1936699" y="2890502"/>
            <a:ext cx="1005840"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GPT-5</a:t>
            </a:r>
            <a:endParaRPr lang="en-US" sz="800" dirty="0"/>
          </a:p>
        </p:txBody>
      </p:sp>
      <p:sp>
        <p:nvSpPr>
          <p:cNvPr id="43" name="Shape 41"/>
          <p:cNvSpPr/>
          <p:nvPr/>
        </p:nvSpPr>
        <p:spPr>
          <a:xfrm>
            <a:off x="1449629" y="3115444"/>
            <a:ext cx="201168" cy="201168"/>
          </a:xfrm>
          <a:prstGeom prst="oval">
            <a:avLst/>
          </a:prstGeom>
          <a:solidFill>
            <a:srgbClr val="94A3B8"/>
          </a:solidFill>
          <a:ln/>
        </p:spPr>
      </p:sp>
      <p:sp>
        <p:nvSpPr>
          <p:cNvPr id="44" name="Text 42"/>
          <p:cNvSpPr/>
          <p:nvPr/>
        </p:nvSpPr>
        <p:spPr>
          <a:xfrm>
            <a:off x="1678229" y="3014860"/>
            <a:ext cx="1005840"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GLM 4.6</a:t>
            </a:r>
            <a:endParaRPr lang="en-US" sz="800" dirty="0"/>
          </a:p>
        </p:txBody>
      </p:sp>
      <p:sp>
        <p:nvSpPr>
          <p:cNvPr id="45" name="Shape 43"/>
          <p:cNvSpPr/>
          <p:nvPr/>
        </p:nvSpPr>
        <p:spPr>
          <a:xfrm>
            <a:off x="2281580" y="3539393"/>
            <a:ext cx="201168" cy="201168"/>
          </a:xfrm>
          <a:prstGeom prst="oval">
            <a:avLst/>
          </a:prstGeom>
          <a:solidFill>
            <a:srgbClr val="CBD5E1"/>
          </a:solidFill>
          <a:ln/>
        </p:spPr>
      </p:sp>
      <p:sp>
        <p:nvSpPr>
          <p:cNvPr id="46" name="Text 44"/>
          <p:cNvSpPr/>
          <p:nvPr/>
        </p:nvSpPr>
        <p:spPr>
          <a:xfrm>
            <a:off x="2510180" y="3438809"/>
            <a:ext cx="1005840"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Gemini 3</a:t>
            </a:r>
            <a:endParaRPr lang="en-US" sz="800" dirty="0"/>
          </a:p>
        </p:txBody>
      </p:sp>
      <p:sp>
        <p:nvSpPr>
          <p:cNvPr id="47" name="Shape 45"/>
          <p:cNvSpPr/>
          <p:nvPr/>
        </p:nvSpPr>
        <p:spPr>
          <a:xfrm>
            <a:off x="5669280" y="1005840"/>
            <a:ext cx="2926080" cy="128016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48" name="Shape 46"/>
          <p:cNvSpPr/>
          <p:nvPr/>
        </p:nvSpPr>
        <p:spPr>
          <a:xfrm>
            <a:off x="5669280" y="1005840"/>
            <a:ext cx="64008" cy="1280160"/>
          </a:xfrm>
          <a:prstGeom prst="rect">
            <a:avLst/>
          </a:prstGeom>
          <a:solidFill>
            <a:srgbClr val="3B82F6"/>
          </a:solidFill>
          <a:ln/>
        </p:spPr>
      </p:sp>
      <p:sp>
        <p:nvSpPr>
          <p:cNvPr id="49" name="Text 47"/>
          <p:cNvSpPr/>
          <p:nvPr/>
        </p:nvSpPr>
        <p:spPr>
          <a:xfrm>
            <a:off x="5897880" y="1051560"/>
            <a:ext cx="2560320" cy="274320"/>
          </a:xfrm>
          <a:prstGeom prst="rect">
            <a:avLst/>
          </a:prstGeom>
          <a:noFill/>
          <a:ln/>
        </p:spPr>
        <p:txBody>
          <a:bodyPr wrap="square" lIns="0" tIns="0" rIns="0" bIns="0" rtlCol="0" anchor="ctr"/>
          <a:lstStyle/>
          <a:p>
            <a:pPr indent="0" marL="0">
              <a:buNone/>
            </a:pPr>
            <a:r>
              <a:rPr lang="en-US" sz="1200" b="1" dirty="0">
                <a:solidFill>
                  <a:srgbClr val="0F1B3D"/>
                </a:solidFill>
                <a:latin typeface="Georgia" pitchFamily="34" charset="0"/>
                <a:ea typeface="Georgia" pitchFamily="34" charset="-122"/>
                <a:cs typeface="Georgia" pitchFamily="34" charset="-120"/>
              </a:rPr>
              <a:t>Our Solution</a:t>
            </a:r>
            <a:endParaRPr lang="en-US" sz="1200" dirty="0"/>
          </a:p>
        </p:txBody>
      </p:sp>
      <p:sp>
        <p:nvSpPr>
          <p:cNvPr id="50" name="Text 48"/>
          <p:cNvSpPr/>
          <p:nvPr/>
        </p:nvSpPr>
        <p:spPr>
          <a:xfrm>
            <a:off x="5897880" y="1325880"/>
            <a:ext cx="2560320" cy="8686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85% precision with 55.5% recall — best in both dimensions. Top-right corner of the chart.</a:t>
            </a:r>
            <a:endParaRPr lang="en-US" sz="1100" dirty="0"/>
          </a:p>
        </p:txBody>
      </p:sp>
      <p:sp>
        <p:nvSpPr>
          <p:cNvPr id="51" name="Shape 49"/>
          <p:cNvSpPr/>
          <p:nvPr/>
        </p:nvSpPr>
        <p:spPr>
          <a:xfrm>
            <a:off x="5669280" y="2468880"/>
            <a:ext cx="2926080" cy="128016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52" name="Shape 50"/>
          <p:cNvSpPr/>
          <p:nvPr/>
        </p:nvSpPr>
        <p:spPr>
          <a:xfrm>
            <a:off x="5669280" y="2468880"/>
            <a:ext cx="64008" cy="1280160"/>
          </a:xfrm>
          <a:prstGeom prst="rect">
            <a:avLst/>
          </a:prstGeom>
          <a:solidFill>
            <a:srgbClr val="F59E0B"/>
          </a:solidFill>
          <a:ln/>
        </p:spPr>
      </p:sp>
      <p:sp>
        <p:nvSpPr>
          <p:cNvPr id="53" name="Text 51"/>
          <p:cNvSpPr/>
          <p:nvPr/>
        </p:nvSpPr>
        <p:spPr>
          <a:xfrm>
            <a:off x="5897880" y="2514600"/>
            <a:ext cx="2560320" cy="274320"/>
          </a:xfrm>
          <a:prstGeom prst="rect">
            <a:avLst/>
          </a:prstGeom>
          <a:noFill/>
          <a:ln/>
        </p:spPr>
        <p:txBody>
          <a:bodyPr wrap="square" lIns="0" tIns="0" rIns="0" bIns="0" rtlCol="0" anchor="ctr"/>
          <a:lstStyle/>
          <a:p>
            <a:pPr indent="0" marL="0">
              <a:buNone/>
            </a:pPr>
            <a:r>
              <a:rPr lang="en-US" sz="1200" b="1" dirty="0">
                <a:solidFill>
                  <a:srgbClr val="0F1B3D"/>
                </a:solidFill>
                <a:latin typeface="Georgia" pitchFamily="34" charset="0"/>
                <a:ea typeface="Georgia" pitchFamily="34" charset="-122"/>
                <a:cs typeface="Georgia" pitchFamily="34" charset="-120"/>
              </a:rPr>
              <a:t>Key Insight</a:t>
            </a:r>
            <a:endParaRPr lang="en-US" sz="1200" dirty="0"/>
          </a:p>
        </p:txBody>
      </p:sp>
      <p:sp>
        <p:nvSpPr>
          <p:cNvPr id="54" name="Text 52"/>
          <p:cNvSpPr/>
          <p:nvPr/>
        </p:nvSpPr>
        <p:spPr>
          <a:xfrm>
            <a:off x="5897880" y="2788920"/>
            <a:ext cx="2560320" cy="8686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GLM has lowest hallucination (6.2%) but recall of only 0.259 — says almost nothing. Low hallucination is meaningless if you don't answer.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0F1B3D"/>
                </a:solidFill>
                <a:latin typeface="Georgia" pitchFamily="34" charset="0"/>
                <a:ea typeface="Georgia" pitchFamily="34" charset="-122"/>
                <a:cs typeface="Georgia" pitchFamily="34" charset="-120"/>
              </a:rPr>
              <a:t>Cost &amp; Latency</a:t>
            </a:r>
            <a:endParaRPr lang="en-US" sz="2800" dirty="0"/>
          </a:p>
        </p:txBody>
      </p:sp>
      <p:sp>
        <p:nvSpPr>
          <p:cNvPr id="4" name="Shape 2"/>
          <p:cNvSpPr/>
          <p:nvPr/>
        </p:nvSpPr>
        <p:spPr>
          <a:xfrm>
            <a:off x="548640" y="777240"/>
            <a:ext cx="1097280" cy="36576"/>
          </a:xfrm>
          <a:prstGeom prst="rect">
            <a:avLst/>
          </a:prstGeom>
          <a:solidFill>
            <a:srgbClr val="3B82F6"/>
          </a:solidFill>
          <a:ln/>
        </p:spPr>
      </p:sp>
      <p:sp>
        <p:nvSpPr>
          <p:cNvPr id="5" name="Text 3"/>
          <p:cNvSpPr/>
          <p:nvPr/>
        </p:nvSpPr>
        <p:spPr>
          <a:xfrm>
            <a:off x="7772400" y="4709160"/>
            <a:ext cx="914400" cy="43434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11</a:t>
            </a:r>
            <a:endParaRPr lang="en-US" sz="900" dirty="0"/>
          </a:p>
        </p:txBody>
      </p:sp>
      <p:sp>
        <p:nvSpPr>
          <p:cNvPr id="6" name="Shape 4"/>
          <p:cNvSpPr/>
          <p:nvPr/>
        </p:nvSpPr>
        <p:spPr>
          <a:xfrm>
            <a:off x="548640" y="1051560"/>
            <a:ext cx="3840480" cy="173736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777240" y="1188720"/>
            <a:ext cx="365760" cy="365760"/>
          </a:xfrm>
          <a:prstGeom prst="rect">
            <a:avLst/>
          </a:prstGeom>
        </p:spPr>
      </p:pic>
      <p:sp>
        <p:nvSpPr>
          <p:cNvPr id="8" name="Text 5"/>
          <p:cNvSpPr/>
          <p:nvPr/>
        </p:nvSpPr>
        <p:spPr>
          <a:xfrm>
            <a:off x="777240" y="1645920"/>
            <a:ext cx="3291840" cy="502920"/>
          </a:xfrm>
          <a:prstGeom prst="rect">
            <a:avLst/>
          </a:prstGeom>
          <a:noFill/>
          <a:ln/>
        </p:spPr>
        <p:txBody>
          <a:bodyPr wrap="square" lIns="0" tIns="0" rIns="0" bIns="0" rtlCol="0" anchor="ctr"/>
          <a:lstStyle/>
          <a:p>
            <a:pPr indent="0" marL="0">
              <a:buNone/>
            </a:pPr>
            <a:r>
              <a:rPr lang="en-US" sz="3400" b="1" dirty="0">
                <a:solidFill>
                  <a:srgbClr val="3B82F6"/>
                </a:solidFill>
                <a:latin typeface="Georgia" pitchFamily="34" charset="0"/>
                <a:ea typeface="Georgia" pitchFamily="34" charset="-122"/>
                <a:cs typeface="Georgia" pitchFamily="34" charset="-120"/>
              </a:rPr>
              <a:t>104s</a:t>
            </a:r>
            <a:endParaRPr lang="en-US" sz="3400" dirty="0"/>
          </a:p>
        </p:txBody>
      </p:sp>
      <p:sp>
        <p:nvSpPr>
          <p:cNvPr id="9" name="Text 6"/>
          <p:cNvSpPr/>
          <p:nvPr/>
        </p:nvSpPr>
        <p:spPr>
          <a:xfrm>
            <a:off x="777240" y="2148840"/>
            <a:ext cx="3291840" cy="274320"/>
          </a:xfrm>
          <a:prstGeom prst="rect">
            <a:avLst/>
          </a:prstGeom>
          <a:noFill/>
          <a:ln/>
        </p:spPr>
        <p:txBody>
          <a:bodyPr wrap="square" lIns="0" tIns="0" rIns="0" bIns="0"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Avg Latency</a:t>
            </a:r>
            <a:endParaRPr lang="en-US" sz="1400" dirty="0"/>
          </a:p>
        </p:txBody>
      </p:sp>
      <p:sp>
        <p:nvSpPr>
          <p:cNvPr id="10" name="Text 7"/>
          <p:cNvSpPr/>
          <p:nvPr/>
        </p:nvSpPr>
        <p:spPr>
          <a:xfrm>
            <a:off x="777240" y="2423160"/>
            <a:ext cx="329184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5-6 serial LLM calls</a:t>
            </a:r>
            <a:endParaRPr lang="en-US" sz="1200" dirty="0"/>
          </a:p>
        </p:txBody>
      </p:sp>
      <p:sp>
        <p:nvSpPr>
          <p:cNvPr id="11" name="Shape 8"/>
          <p:cNvSpPr/>
          <p:nvPr/>
        </p:nvSpPr>
        <p:spPr>
          <a:xfrm>
            <a:off x="4754880" y="1051560"/>
            <a:ext cx="3840480" cy="1737360"/>
          </a:xfrm>
          <a:prstGeom prst="rect">
            <a:avLst/>
          </a:prstGeom>
          <a:solidFill>
            <a:srgbClr val="FFFFFF"/>
          </a:solidFill>
          <a:ln/>
          <a:effectLst>
            <a:outerShdw sx="100000" sy="100000" kx="0" ky="0" algn="bl" rotWithShape="0" blurRad="50800" dist="12700" dir="8100000">
              <a:srgbClr val="000000">
                <a:alpha val="10000"/>
              </a:srgbClr>
            </a:outerShdw>
          </a:effectLst>
        </p:spPr>
      </p:sp>
      <p:pic>
        <p:nvPicPr>
          <p:cNvPr id="12" name="Image 1" descr="preencoded.png">    </p:cNvPr>
          <p:cNvPicPr>
            <a:picLocks noChangeAspect="1"/>
          </p:cNvPicPr>
          <p:nvPr/>
        </p:nvPicPr>
        <p:blipFill>
          <a:blip r:embed="rId2"/>
          <a:stretch>
            <a:fillRect/>
          </a:stretch>
        </p:blipFill>
        <p:spPr>
          <a:xfrm>
            <a:off x="4983480" y="1188720"/>
            <a:ext cx="365760" cy="365760"/>
          </a:xfrm>
          <a:prstGeom prst="rect">
            <a:avLst/>
          </a:prstGeom>
        </p:spPr>
      </p:pic>
      <p:sp>
        <p:nvSpPr>
          <p:cNvPr id="13" name="Text 9"/>
          <p:cNvSpPr/>
          <p:nvPr/>
        </p:nvSpPr>
        <p:spPr>
          <a:xfrm>
            <a:off x="4983480" y="1645920"/>
            <a:ext cx="3291840" cy="502920"/>
          </a:xfrm>
          <a:prstGeom prst="rect">
            <a:avLst/>
          </a:prstGeom>
          <a:noFill/>
          <a:ln/>
        </p:spPr>
        <p:txBody>
          <a:bodyPr wrap="square" lIns="0" tIns="0" rIns="0" bIns="0" rtlCol="0" anchor="ctr"/>
          <a:lstStyle/>
          <a:p>
            <a:pPr indent="0" marL="0">
              <a:buNone/>
            </a:pPr>
            <a:r>
              <a:rPr lang="en-US" sz="3400" b="1" dirty="0">
                <a:solidFill>
                  <a:srgbClr val="3B82F6"/>
                </a:solidFill>
                <a:latin typeface="Georgia" pitchFamily="34" charset="0"/>
                <a:ea typeface="Georgia" pitchFamily="34" charset="-122"/>
                <a:cs typeface="Georgia" pitchFamily="34" charset="-120"/>
              </a:rPr>
              <a:t>~40%</a:t>
            </a:r>
            <a:endParaRPr lang="en-US" sz="3400" dirty="0"/>
          </a:p>
        </p:txBody>
      </p:sp>
      <p:sp>
        <p:nvSpPr>
          <p:cNvPr id="14" name="Text 10"/>
          <p:cNvSpPr/>
          <p:nvPr/>
        </p:nvSpPr>
        <p:spPr>
          <a:xfrm>
            <a:off x="4983480" y="2148840"/>
            <a:ext cx="3291840" cy="274320"/>
          </a:xfrm>
          <a:prstGeom prst="rect">
            <a:avLst/>
          </a:prstGeom>
          <a:noFill/>
          <a:ln/>
        </p:spPr>
        <p:txBody>
          <a:bodyPr wrap="square" lIns="0" tIns="0" rIns="0" bIns="0"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Future Reduction</a:t>
            </a:r>
            <a:endParaRPr lang="en-US" sz="1400" dirty="0"/>
          </a:p>
        </p:txBody>
      </p:sp>
      <p:sp>
        <p:nvSpPr>
          <p:cNvPr id="15" name="Text 11"/>
          <p:cNvSpPr/>
          <p:nvPr/>
        </p:nvSpPr>
        <p:spPr>
          <a:xfrm>
            <a:off x="4983480" y="2423160"/>
            <a:ext cx="329184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Parallelize validators</a:t>
            </a:r>
            <a:endParaRPr lang="en-US" sz="1200" dirty="0"/>
          </a:p>
        </p:txBody>
      </p:sp>
      <p:sp>
        <p:nvSpPr>
          <p:cNvPr id="16" name="Shape 12"/>
          <p:cNvSpPr/>
          <p:nvPr/>
        </p:nvSpPr>
        <p:spPr>
          <a:xfrm>
            <a:off x="548640" y="3063240"/>
            <a:ext cx="8046720" cy="365760"/>
          </a:xfrm>
          <a:prstGeom prst="rect">
            <a:avLst/>
          </a:prstGeom>
          <a:solidFill>
            <a:srgbClr val="0F1B3D"/>
          </a:solidFill>
          <a:ln/>
        </p:spPr>
      </p:sp>
      <p:sp>
        <p:nvSpPr>
          <p:cNvPr id="17" name="Text 13"/>
          <p:cNvSpPr/>
          <p:nvPr/>
        </p:nvSpPr>
        <p:spPr>
          <a:xfrm>
            <a:off x="731520" y="3063240"/>
            <a:ext cx="18288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Comparison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8046720" cy="914400"/>
        </p:xfrm>
        <a:graphic>
          <a:graphicData uri="http://schemas.openxmlformats.org/drawingml/2006/table">
            <a:tbl>
              <a:tblPr/>
              <a:tblGrid>
                <a:gridCol w="2011680"/>
                <a:gridCol w="3017520"/>
                <a:gridCol w="3017520"/>
              </a:tblGrid>
              <a:tr h="292608">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 Solution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B82F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One-Shot Baselines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3D"/>
                    </a:solidFill>
                  </a:tcPr>
                </a:tc>
              </a:tr>
              <a:tr h="274320">
                <a:tc>
                  <a:txBody>
                    <a:bodyPr/>
                    <a:lstStyle/>
                    <a:p>
                      <a:pPr indent="0" marL="0">
                        <a:buNone/>
                      </a:pPr>
                      <a:r>
                        <a:rPr lang="en-US" sz="1000" b="1" dirty="0">
                          <a:solidFill>
                            <a:srgbClr val="0F1B3D"/>
                          </a:solidFill>
                          <a:latin typeface="Calibri" pitchFamily="34" charset="0"/>
                          <a:ea typeface="Calibri" pitchFamily="34" charset="-122"/>
                          <a:cs typeface="Calibri" pitchFamily="34" charset="-120"/>
                        </a:rPr>
                        <a:t>Latency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104s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5-18s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b="1" dirty="0">
                          <a:solidFill>
                            <a:srgbClr val="0F1B3D"/>
                          </a:solidFill>
                          <a:latin typeface="Calibri" pitchFamily="34" charset="0"/>
                          <a:ea typeface="Calibri" pitchFamily="34" charset="-122"/>
                          <a:cs typeface="Calibri" pitchFamily="34" charset="-120"/>
                        </a:rPr>
                        <a:t>Cost / Query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$0.01-$0.02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$0.05-$0.10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b="1" dirty="0">
                          <a:solidFill>
                            <a:srgbClr val="0F1B3D"/>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0B981"/>
                          </a:solidFill>
                          <a:latin typeface="Calibri" pitchFamily="34" charset="0"/>
                          <a:ea typeface="Calibri" pitchFamily="34" charset="-122"/>
                          <a:cs typeface="Calibri" pitchFamily="34" charset="-120"/>
                        </a:rPr>
                        <a:t>F1 = 0.639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F1 ≤ 0.531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9" name="Shape 14"/>
          <p:cNvSpPr/>
          <p:nvPr/>
        </p:nvSpPr>
        <p:spPr>
          <a:xfrm>
            <a:off x="548640" y="4434840"/>
            <a:ext cx="8046720" cy="320040"/>
          </a:xfrm>
          <a:prstGeom prst="rect">
            <a:avLst/>
          </a:prstGeom>
          <a:solidFill>
            <a:srgbClr val="EBF2FF"/>
          </a:solidFill>
          <a:ln/>
        </p:spPr>
      </p:sp>
      <p:sp>
        <p:nvSpPr>
          <p:cNvPr id="20" name="Text 15"/>
          <p:cNvSpPr/>
          <p:nvPr/>
        </p:nvSpPr>
        <p:spPr>
          <a:xfrm>
            <a:off x="731520" y="4434840"/>
            <a:ext cx="7680960" cy="320040"/>
          </a:xfrm>
          <a:prstGeom prst="rect">
            <a:avLst/>
          </a:prstGeom>
          <a:noFill/>
          <a:ln/>
        </p:spPr>
        <p:txBody>
          <a:bodyPr wrap="square" lIns="0" tIns="0" rIns="0" bIns="0" rtlCol="0" anchor="ctr"/>
          <a:lstStyle/>
          <a:p>
            <a:pPr indent="0" marL="0">
              <a:buNone/>
            </a:pPr>
            <a:r>
              <a:rPr lang="en-US" sz="1000" dirty="0">
                <a:solidFill>
                  <a:srgbClr val="0F1B3D"/>
                </a:solidFill>
                <a:latin typeface="Calibri" pitchFamily="34" charset="0"/>
                <a:ea typeface="Calibri" pitchFamily="34" charset="-122"/>
                <a:cs typeface="Calibri" pitchFamily="34" charset="-120"/>
              </a:rPr>
              <a:t>Acceptable for: chart review, care planning, clinical research — not real-time bedside decisions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640080" y="320040"/>
            <a:ext cx="7863840" cy="50292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868680"/>
            <a:ext cx="1097280" cy="36576"/>
          </a:xfrm>
          <a:prstGeom prst="rect">
            <a:avLst/>
          </a:prstGeom>
          <a:solidFill>
            <a:srgbClr val="3B82F6"/>
          </a:solidFill>
          <a:ln/>
        </p:spPr>
      </p:sp>
      <p:sp>
        <p:nvSpPr>
          <p:cNvPr id="5" name="Shape 3"/>
          <p:cNvSpPr/>
          <p:nvPr/>
        </p:nvSpPr>
        <p:spPr>
          <a:xfrm>
            <a:off x="640080" y="1051560"/>
            <a:ext cx="7863840" cy="475488"/>
          </a:xfrm>
          <a:prstGeom prst="rect">
            <a:avLst/>
          </a:prstGeom>
          <a:solidFill>
            <a:srgbClr val="1A2B5C"/>
          </a:solidFill>
          <a:ln/>
          <a:effectLst>
            <a:outerShdw sx="100000" sy="100000" kx="0" ky="0" algn="bl" rotWithShape="0" blurRad="50800" dist="12700" dir="8100000">
              <a:srgbClr val="000000">
                <a:alpha val="10000"/>
              </a:srgbClr>
            </a:outerShdw>
          </a:effectLst>
        </p:spPr>
      </p:sp>
      <p:sp>
        <p:nvSpPr>
          <p:cNvPr id="6" name="Text 4"/>
          <p:cNvSpPr/>
          <p:nvPr/>
        </p:nvSpPr>
        <p:spPr>
          <a:xfrm>
            <a:off x="822960" y="1051560"/>
            <a:ext cx="1188720" cy="475488"/>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0.639</a:t>
            </a:r>
            <a:endParaRPr lang="en-US" sz="2000" dirty="0"/>
          </a:p>
        </p:txBody>
      </p:sp>
      <p:sp>
        <p:nvSpPr>
          <p:cNvPr id="7" name="Text 5"/>
          <p:cNvSpPr/>
          <p:nvPr/>
        </p:nvSpPr>
        <p:spPr>
          <a:xfrm>
            <a:off x="2103120" y="1051560"/>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Entity F1</a:t>
            </a:r>
            <a:endParaRPr lang="en-US" sz="1200" dirty="0"/>
          </a:p>
        </p:txBody>
      </p:sp>
      <p:sp>
        <p:nvSpPr>
          <p:cNvPr id="8" name="Text 6"/>
          <p:cNvSpPr/>
          <p:nvPr/>
        </p:nvSpPr>
        <p:spPr>
          <a:xfrm>
            <a:off x="3840480" y="1051560"/>
            <a:ext cx="4572000" cy="47548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20% better than best baseline</a:t>
            </a:r>
            <a:endParaRPr lang="en-US" sz="1100" dirty="0"/>
          </a:p>
        </p:txBody>
      </p:sp>
      <p:sp>
        <p:nvSpPr>
          <p:cNvPr id="9" name="Shape 7"/>
          <p:cNvSpPr/>
          <p:nvPr/>
        </p:nvSpPr>
        <p:spPr>
          <a:xfrm>
            <a:off x="640080" y="1618488"/>
            <a:ext cx="7863840" cy="475488"/>
          </a:xfrm>
          <a:prstGeom prst="rect">
            <a:avLst/>
          </a:prstGeom>
          <a:solidFill>
            <a:srgbClr val="1A2B5C"/>
          </a:solidFill>
          <a:ln/>
          <a:effectLst>
            <a:outerShdw sx="100000" sy="100000" kx="0" ky="0" algn="bl" rotWithShape="0" blurRad="50800" dist="12700" dir="8100000">
              <a:srgbClr val="000000">
                <a:alpha val="10000"/>
              </a:srgbClr>
            </a:outerShdw>
          </a:effectLst>
        </p:spPr>
      </p:sp>
      <p:sp>
        <p:nvSpPr>
          <p:cNvPr id="10" name="Text 8"/>
          <p:cNvSpPr/>
          <p:nvPr/>
        </p:nvSpPr>
        <p:spPr>
          <a:xfrm>
            <a:off x="822960" y="1618488"/>
            <a:ext cx="1188720" cy="475488"/>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85%</a:t>
            </a:r>
            <a:endParaRPr lang="en-US" sz="2000" dirty="0"/>
          </a:p>
        </p:txBody>
      </p:sp>
      <p:sp>
        <p:nvSpPr>
          <p:cNvPr id="11" name="Text 9"/>
          <p:cNvSpPr/>
          <p:nvPr/>
        </p:nvSpPr>
        <p:spPr>
          <a:xfrm>
            <a:off x="2103120" y="1618488"/>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p>
        </p:txBody>
      </p:sp>
      <p:sp>
        <p:nvSpPr>
          <p:cNvPr id="12" name="Text 10"/>
          <p:cNvSpPr/>
          <p:nvPr/>
        </p:nvSpPr>
        <p:spPr>
          <a:xfrm>
            <a:off x="3840480" y="1618488"/>
            <a:ext cx="4572000" cy="47548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When we say something, it's real</a:t>
            </a:r>
            <a:endParaRPr lang="en-US" sz="1100" dirty="0"/>
          </a:p>
        </p:txBody>
      </p:sp>
      <p:sp>
        <p:nvSpPr>
          <p:cNvPr id="13" name="Shape 11"/>
          <p:cNvSpPr/>
          <p:nvPr/>
        </p:nvSpPr>
        <p:spPr>
          <a:xfrm>
            <a:off x="640080" y="2185416"/>
            <a:ext cx="7863840" cy="475488"/>
          </a:xfrm>
          <a:prstGeom prst="rect">
            <a:avLst/>
          </a:prstGeom>
          <a:solidFill>
            <a:srgbClr val="1A2B5C"/>
          </a:solidFill>
          <a:ln/>
          <a:effectLst>
            <a:outerShdw sx="100000" sy="100000" kx="0" ky="0" algn="bl" rotWithShape="0" blurRad="50800" dist="12700" dir="8100000">
              <a:srgbClr val="000000">
                <a:alpha val="10000"/>
              </a:srgbClr>
            </a:outerShdw>
          </a:effectLst>
        </p:spPr>
      </p:sp>
      <p:sp>
        <p:nvSpPr>
          <p:cNvPr id="14" name="Text 12"/>
          <p:cNvSpPr/>
          <p:nvPr/>
        </p:nvSpPr>
        <p:spPr>
          <a:xfrm>
            <a:off x="822960" y="2185416"/>
            <a:ext cx="1188720" cy="475488"/>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100%</a:t>
            </a:r>
            <a:endParaRPr lang="en-US" sz="2000" dirty="0"/>
          </a:p>
        </p:txBody>
      </p:sp>
      <p:sp>
        <p:nvSpPr>
          <p:cNvPr id="15" name="Text 13"/>
          <p:cNvSpPr/>
          <p:nvPr/>
        </p:nvSpPr>
        <p:spPr>
          <a:xfrm>
            <a:off x="2103120" y="2185416"/>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Abstention Acc.</a:t>
            </a:r>
            <a:endParaRPr lang="en-US" sz="1200" dirty="0"/>
          </a:p>
        </p:txBody>
      </p:sp>
      <p:sp>
        <p:nvSpPr>
          <p:cNvPr id="16" name="Text 14"/>
          <p:cNvSpPr/>
          <p:nvPr/>
        </p:nvSpPr>
        <p:spPr>
          <a:xfrm>
            <a:off x="3840480" y="2185416"/>
            <a:ext cx="4572000" cy="47548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Correctly refuses unanswerable queries</a:t>
            </a:r>
            <a:endParaRPr lang="en-US" sz="1100" dirty="0"/>
          </a:p>
        </p:txBody>
      </p:sp>
      <p:sp>
        <p:nvSpPr>
          <p:cNvPr id="17" name="Shape 15"/>
          <p:cNvSpPr/>
          <p:nvPr/>
        </p:nvSpPr>
        <p:spPr>
          <a:xfrm>
            <a:off x="640080" y="2752344"/>
            <a:ext cx="7863840" cy="475488"/>
          </a:xfrm>
          <a:prstGeom prst="rect">
            <a:avLst/>
          </a:prstGeom>
          <a:solidFill>
            <a:srgbClr val="1A2B5C"/>
          </a:solidFill>
          <a:ln/>
          <a:effectLst>
            <a:outerShdw sx="100000" sy="100000" kx="0" ky="0" algn="bl" rotWithShape="0" blurRad="50800" dist="12700" dir="8100000">
              <a:srgbClr val="000000">
                <a:alpha val="10000"/>
              </a:srgbClr>
            </a:outerShdw>
          </a:effectLst>
        </p:spPr>
      </p:sp>
      <p:sp>
        <p:nvSpPr>
          <p:cNvPr id="18" name="Text 16"/>
          <p:cNvSpPr/>
          <p:nvPr/>
        </p:nvSpPr>
        <p:spPr>
          <a:xfrm>
            <a:off x="822960" y="2752344"/>
            <a:ext cx="1188720" cy="475488"/>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0.770</a:t>
            </a:r>
            <a:endParaRPr lang="en-US" sz="2000" dirty="0"/>
          </a:p>
        </p:txBody>
      </p:sp>
      <p:sp>
        <p:nvSpPr>
          <p:cNvPr id="19" name="Text 17"/>
          <p:cNvSpPr/>
          <p:nvPr/>
        </p:nvSpPr>
        <p:spPr>
          <a:xfrm>
            <a:off x="2103120" y="2752344"/>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Medication F1</a:t>
            </a:r>
            <a:endParaRPr lang="en-US" sz="1200" dirty="0"/>
          </a:p>
        </p:txBody>
      </p:sp>
      <p:sp>
        <p:nvSpPr>
          <p:cNvPr id="20" name="Text 18"/>
          <p:cNvSpPr/>
          <p:nvPr/>
        </p:nvSpPr>
        <p:spPr>
          <a:xfrm>
            <a:off x="3840480" y="2752344"/>
            <a:ext cx="4572000" cy="47548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100x better than GPT-5</a:t>
            </a:r>
            <a:endParaRPr lang="en-US" sz="1100" dirty="0"/>
          </a:p>
        </p:txBody>
      </p:sp>
      <p:sp>
        <p:nvSpPr>
          <p:cNvPr id="21" name="Shape 19"/>
          <p:cNvSpPr/>
          <p:nvPr/>
        </p:nvSpPr>
        <p:spPr>
          <a:xfrm>
            <a:off x="640080" y="3319272"/>
            <a:ext cx="7863840" cy="475488"/>
          </a:xfrm>
          <a:prstGeom prst="rect">
            <a:avLst/>
          </a:prstGeom>
          <a:solidFill>
            <a:srgbClr val="1A2B5C"/>
          </a:solidFill>
          <a:ln/>
          <a:effectLst>
            <a:outerShdw sx="100000" sy="100000" kx="0" ky="0" algn="bl" rotWithShape="0" blurRad="50800" dist="12700" dir="8100000">
              <a:srgbClr val="000000">
                <a:alpha val="10000"/>
              </a:srgbClr>
            </a:outerShdw>
          </a:effectLst>
        </p:spPr>
      </p:sp>
      <p:sp>
        <p:nvSpPr>
          <p:cNvPr id="22" name="Text 20"/>
          <p:cNvSpPr/>
          <p:nvPr/>
        </p:nvSpPr>
        <p:spPr>
          <a:xfrm>
            <a:off x="822960" y="3319272"/>
            <a:ext cx="1188720" cy="475488"/>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$0.01</a:t>
            </a:r>
            <a:endParaRPr lang="en-US" sz="2000" dirty="0"/>
          </a:p>
        </p:txBody>
      </p:sp>
      <p:sp>
        <p:nvSpPr>
          <p:cNvPr id="23" name="Text 21"/>
          <p:cNvSpPr/>
          <p:nvPr/>
        </p:nvSpPr>
        <p:spPr>
          <a:xfrm>
            <a:off x="2103120" y="3319272"/>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Cost Per Query</a:t>
            </a:r>
            <a:endParaRPr lang="en-US" sz="1200" dirty="0"/>
          </a:p>
        </p:txBody>
      </p:sp>
      <p:sp>
        <p:nvSpPr>
          <p:cNvPr id="24" name="Text 22"/>
          <p:cNvSpPr/>
          <p:nvPr/>
        </p:nvSpPr>
        <p:spPr>
          <a:xfrm>
            <a:off x="3840480" y="3319272"/>
            <a:ext cx="4572000" cy="47548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Cheap MiniMax M2.5 backbone</a:t>
            </a:r>
            <a:endParaRPr lang="en-US" sz="1100" dirty="0"/>
          </a:p>
        </p:txBody>
      </p:sp>
      <p:sp>
        <p:nvSpPr>
          <p:cNvPr id="25" name="Shape 23"/>
          <p:cNvSpPr/>
          <p:nvPr/>
        </p:nvSpPr>
        <p:spPr>
          <a:xfrm>
            <a:off x="640080" y="3977640"/>
            <a:ext cx="7863840" cy="594360"/>
          </a:xfrm>
          <a:prstGeom prst="rect">
            <a:avLst/>
          </a:prstGeom>
          <a:solidFill>
            <a:srgbClr val="3B82F6"/>
          </a:solidFill>
          <a:ln/>
        </p:spPr>
      </p:sp>
      <p:sp>
        <p:nvSpPr>
          <p:cNvPr id="26" name="Text 24"/>
          <p:cNvSpPr/>
          <p:nvPr/>
        </p:nvSpPr>
        <p:spPr>
          <a:xfrm>
            <a:off x="822960" y="3977640"/>
            <a:ext cx="749808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Specialized agents working together beat one powerful model doing everything.</a:t>
            </a:r>
            <a:endParaRPr lang="en-US" sz="1600" dirty="0"/>
          </a:p>
        </p:txBody>
      </p:sp>
      <p:sp>
        <p:nvSpPr>
          <p:cNvPr id="27" name="Shape 25"/>
          <p:cNvSpPr/>
          <p:nvPr/>
        </p:nvSpPr>
        <p:spPr>
          <a:xfrm>
            <a:off x="0" y="4709160"/>
            <a:ext cx="9144000" cy="434340"/>
          </a:xfrm>
          <a:prstGeom prst="rect">
            <a:avLst/>
          </a:prstGeom>
          <a:solidFill>
            <a:srgbClr val="0A1128"/>
          </a:solidFill>
          <a:ln/>
        </p:spPr>
      </p:sp>
      <p:sp>
        <p:nvSpPr>
          <p:cNvPr id="28" name="Text 26"/>
          <p:cNvSpPr/>
          <p:nvPr/>
        </p:nvSpPr>
        <p:spPr>
          <a:xfrm>
            <a:off x="457200" y="4709160"/>
            <a:ext cx="8229600" cy="4343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Shashin Bhaskar  |  shashin.bhaskar@gmail.com  |  SJSU Software Engineering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EHR Copilot: Multi-Agent RAG Pipeline for Faithful Clinical QA over EHRs</dc:title>
  <dc:subject>PptxGenJS Presentation</dc:subject>
  <dc:creator>Shashin Bhaskar</dc:creator>
  <cp:lastModifiedBy>Shashin Bhaskar</cp:lastModifiedBy>
  <cp:revision>1</cp:revision>
  <dcterms:created xsi:type="dcterms:W3CDTF">2026-02-26T18:11:18Z</dcterms:created>
  <dcterms:modified xsi:type="dcterms:W3CDTF">2026-02-26T18:11:18Z</dcterms:modified>
</cp:coreProperties>
</file>